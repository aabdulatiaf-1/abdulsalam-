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217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217920"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6217920"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594360"/>
            <a:ext cx="1828800" cy="347472"/>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594360"/>
            <a:ext cx="1828800" cy="347472"/>
          </a:xfrm>
          <a:prstGeom prst="rect">
            <a:avLst/>
          </a:prstGeom>
          <a:noFill/>
        </p:spPr>
        <p:txBody>
          <a:bodyPr wrap="square">
            <a:spAutoFit/>
          </a:bodyPr>
          <a:lstStyle/>
          <a:p>
            <a:pPr algn="ctr"/>
            <a:r>
              <a:rPr sz="1200" b="1" i="0">
                <a:solidFill>
                  <a:srgbClr val="FFFFFF"/>
                </a:solidFill>
                <a:latin typeface="Traditional Arabic"/>
                <a:cs typeface="Traditional Arabic"/>
              </a:rPr>
              <a:t>عرض مقترح</a:t>
            </a:r>
          </a:p>
        </p:txBody>
      </p:sp>
      <p:sp>
        <p:nvSpPr>
          <p:cNvPr id="9" name="TextBox 8"/>
          <p:cNvSpPr txBox="1"/>
          <p:nvPr/>
        </p:nvSpPr>
        <p:spPr>
          <a:xfrm>
            <a:off x="411480" y="1143000"/>
            <a:ext cx="5623560" cy="1280160"/>
          </a:xfrm>
          <a:prstGeom prst="rect">
            <a:avLst/>
          </a:prstGeom>
          <a:noFill/>
        </p:spPr>
        <p:txBody>
          <a:bodyPr wrap="square">
            <a:spAutoFit/>
          </a:bodyPr>
          <a:lstStyle/>
          <a:p>
            <a:pPr algn="l" a:rtl="1"/>
            <a:r>
              <a:rPr sz="4400" b="1" i="0">
                <a:solidFill>
                  <a:srgbClr val="FFFFFF"/>
                </a:solidFill>
                <a:latin typeface="Traditional Arabic"/>
                <a:cs typeface="Traditional Arabic"/>
              </a:rPr>
              <a:t>فعالية غداء العمل</a:t>
            </a:r>
          </a:p>
        </p:txBody>
      </p:sp>
      <p:sp>
        <p:nvSpPr>
          <p:cNvPr id="10" name="TextBox 9"/>
          <p:cNvSpPr txBox="1"/>
          <p:nvPr/>
        </p:nvSpPr>
        <p:spPr>
          <a:xfrm>
            <a:off x="411480" y="2487168"/>
            <a:ext cx="5623560" cy="594360"/>
          </a:xfrm>
          <a:prstGeom prst="rect">
            <a:avLst/>
          </a:prstGeom>
          <a:noFill/>
        </p:spPr>
        <p:txBody>
          <a:bodyPr wrap="square">
            <a:spAutoFit/>
          </a:bodyPr>
          <a:lstStyle/>
          <a:p>
            <a:pPr algn="l" a:rtl="1"/>
            <a:r>
              <a:rPr sz="1700" b="0" i="0">
                <a:solidFill>
                  <a:srgbClr val="E8ECF4"/>
                </a:solidFill>
                <a:latin typeface="Traditional Arabic"/>
                <a:cs typeface="Traditional Arabic"/>
              </a:rPr>
              <a:t>جلسات حوارية متخصصة في مجال المراجعة الداخلية</a:t>
            </a:r>
          </a:p>
        </p:txBody>
      </p:sp>
      <p:sp>
        <p:nvSpPr>
          <p:cNvPr id="11" name="Rectangle 10"/>
          <p:cNvSpPr/>
          <p:nvPr/>
        </p:nvSpPr>
        <p:spPr>
          <a:xfrm>
            <a:off x="411480" y="3291840"/>
            <a:ext cx="4754880" cy="45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493008"/>
            <a:ext cx="5623560" cy="621792"/>
          </a:xfrm>
          <a:prstGeom prst="rect">
            <a:avLst/>
          </a:prstGeom>
          <a:noFill/>
        </p:spPr>
        <p:txBody>
          <a:bodyPr wrap="square">
            <a:spAutoFit/>
          </a:bodyPr>
          <a:lstStyle/>
          <a:p>
            <a:pPr algn="l" a:rtl="1"/>
            <a:r>
              <a:rPr sz="2200" b="1" i="0">
                <a:solidFill>
                  <a:srgbClr val="FFFFFF"/>
                </a:solidFill>
                <a:latin typeface="Traditional Arabic"/>
                <a:cs typeface="Traditional Arabic"/>
              </a:rPr>
              <a:t>شركة العوفي والحربي</a:t>
            </a:r>
          </a:p>
        </p:txBody>
      </p:sp>
      <p:sp>
        <p:nvSpPr>
          <p:cNvPr id="13" name="TextBox 12"/>
          <p:cNvSpPr txBox="1"/>
          <p:nvPr/>
        </p:nvSpPr>
        <p:spPr>
          <a:xfrm>
            <a:off x="411480" y="4096512"/>
            <a:ext cx="5623560" cy="411480"/>
          </a:xfrm>
          <a:prstGeom prst="rect">
            <a:avLst/>
          </a:prstGeom>
          <a:noFill/>
        </p:spPr>
        <p:txBody>
          <a:bodyPr wrap="square">
            <a:spAutoFit/>
          </a:bodyPr>
          <a:lstStyle/>
          <a:p>
            <a:pPr algn="l"/>
            <a:r>
              <a:rPr sz="1100" b="0" i="0">
                <a:solidFill>
                  <a:srgbClr val="8A94AE"/>
                </a:solidFill>
                <a:latin typeface="Traditional Arabic"/>
                <a:cs typeface="Traditional Arabic"/>
              </a:rPr>
              <a:t>محاسبون ومراجعون قانونيون  •  عضو CLA Global</a:t>
            </a:r>
          </a:p>
        </p:txBody>
      </p:sp>
      <p:sp>
        <p:nvSpPr>
          <p:cNvPr id="14" name="TextBox 13"/>
          <p:cNvSpPr txBox="1"/>
          <p:nvPr/>
        </p:nvSpPr>
        <p:spPr>
          <a:xfrm>
            <a:off x="411480" y="6144768"/>
            <a:ext cx="2560320" cy="365760"/>
          </a:xfrm>
          <a:prstGeom prst="rect">
            <a:avLst/>
          </a:prstGeom>
          <a:noFill/>
        </p:spPr>
        <p:txBody>
          <a:bodyPr wrap="square">
            <a:spAutoFit/>
          </a:bodyPr>
          <a:lstStyle/>
          <a:p>
            <a:pPr algn="l"/>
            <a:r>
              <a:rPr sz="1300" b="0" i="0">
                <a:solidFill>
                  <a:srgbClr val="E8ECF4"/>
                </a:solidFill>
                <a:latin typeface="Traditional Arabic"/>
                <a:cs typeface="Traditional Arabic"/>
              </a:rPr>
              <a:t>www.cla.sa</a:t>
            </a:r>
          </a:p>
        </p:txBody>
      </p:sp>
      <p:sp>
        <p:nvSpPr>
          <p:cNvPr id="15" name="Rectangle 14"/>
          <p:cNvSpPr/>
          <p:nvPr/>
        </p:nvSpPr>
        <p:spPr>
          <a:xfrm>
            <a:off x="6720840" y="914400"/>
            <a:ext cx="50292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20840" y="914400"/>
            <a:ext cx="64008" cy="1417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1005840"/>
            <a:ext cx="4754880" cy="713232"/>
          </a:xfrm>
          <a:prstGeom prst="rect">
            <a:avLst/>
          </a:prstGeom>
          <a:noFill/>
        </p:spPr>
        <p:txBody>
          <a:bodyPr wrap="square">
            <a:spAutoFit/>
          </a:bodyPr>
          <a:lstStyle/>
          <a:p>
            <a:pPr algn="l"/>
            <a:r>
              <a:rPr sz="3800" b="1" i="0">
                <a:solidFill>
                  <a:srgbClr val="001A55"/>
                </a:solidFill>
                <a:latin typeface="Traditional Arabic"/>
                <a:cs typeface="Traditional Arabic"/>
              </a:rPr>
              <a:t>يومان</a:t>
            </a:r>
          </a:p>
        </p:txBody>
      </p:sp>
      <p:sp>
        <p:nvSpPr>
          <p:cNvPr id="18" name="TextBox 17"/>
          <p:cNvSpPr txBox="1"/>
          <p:nvPr/>
        </p:nvSpPr>
        <p:spPr>
          <a:xfrm>
            <a:off x="6903720" y="1737360"/>
            <a:ext cx="4754880" cy="411480"/>
          </a:xfrm>
          <a:prstGeom prst="rect">
            <a:avLst/>
          </a:prstGeom>
          <a:noFill/>
        </p:spPr>
        <p:txBody>
          <a:bodyPr wrap="square">
            <a:spAutoFit/>
          </a:bodyPr>
          <a:lstStyle/>
          <a:p>
            <a:pPr algn="l"/>
            <a:r>
              <a:rPr sz="1400" b="0" i="0">
                <a:solidFill>
                  <a:srgbClr val="8A94AE"/>
                </a:solidFill>
                <a:latin typeface="Traditional Arabic"/>
                <a:cs typeface="Traditional Arabic"/>
              </a:rPr>
              <a:t>مدة الفعالية</a:t>
            </a:r>
          </a:p>
        </p:txBody>
      </p:sp>
      <p:sp>
        <p:nvSpPr>
          <p:cNvPr id="19" name="Rectangle 18"/>
          <p:cNvSpPr/>
          <p:nvPr/>
        </p:nvSpPr>
        <p:spPr>
          <a:xfrm>
            <a:off x="6720840" y="2606040"/>
            <a:ext cx="50292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20840" y="2606040"/>
            <a:ext cx="64008" cy="1417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2697480"/>
            <a:ext cx="4754880" cy="713232"/>
          </a:xfrm>
          <a:prstGeom prst="rect">
            <a:avLst/>
          </a:prstGeom>
          <a:noFill/>
        </p:spPr>
        <p:txBody>
          <a:bodyPr wrap="square">
            <a:spAutoFit/>
          </a:bodyPr>
          <a:lstStyle/>
          <a:p>
            <a:pPr algn="l"/>
            <a:r>
              <a:rPr sz="3800" b="1" i="0">
                <a:solidFill>
                  <a:srgbClr val="001A55"/>
                </a:solidFill>
                <a:latin typeface="Traditional Arabic"/>
                <a:cs typeface="Traditional Arabic"/>
              </a:rPr>
              <a:t>10</a:t>
            </a:r>
          </a:p>
        </p:txBody>
      </p:sp>
      <p:sp>
        <p:nvSpPr>
          <p:cNvPr id="22" name="TextBox 21"/>
          <p:cNvSpPr txBox="1"/>
          <p:nvPr/>
        </p:nvSpPr>
        <p:spPr>
          <a:xfrm>
            <a:off x="6903720" y="3429000"/>
            <a:ext cx="4754880" cy="411480"/>
          </a:xfrm>
          <a:prstGeom prst="rect">
            <a:avLst/>
          </a:prstGeom>
          <a:noFill/>
        </p:spPr>
        <p:txBody>
          <a:bodyPr wrap="square">
            <a:spAutoFit/>
          </a:bodyPr>
          <a:lstStyle/>
          <a:p>
            <a:pPr algn="l"/>
            <a:r>
              <a:rPr sz="1400" b="0" i="0">
                <a:solidFill>
                  <a:srgbClr val="8A94AE"/>
                </a:solidFill>
                <a:latin typeface="Traditional Arabic"/>
                <a:cs typeface="Traditional Arabic"/>
              </a:rPr>
              <a:t>جلسة حوارية</a:t>
            </a:r>
          </a:p>
        </p:txBody>
      </p:sp>
      <p:sp>
        <p:nvSpPr>
          <p:cNvPr id="23" name="Rectangle 22"/>
          <p:cNvSpPr/>
          <p:nvPr/>
        </p:nvSpPr>
        <p:spPr>
          <a:xfrm>
            <a:off x="6720840" y="4297680"/>
            <a:ext cx="50292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20840" y="4297680"/>
            <a:ext cx="64008" cy="1417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4389120"/>
            <a:ext cx="4754880" cy="713232"/>
          </a:xfrm>
          <a:prstGeom prst="rect">
            <a:avLst/>
          </a:prstGeom>
          <a:noFill/>
        </p:spPr>
        <p:txBody>
          <a:bodyPr wrap="square">
            <a:spAutoFit/>
          </a:bodyPr>
          <a:lstStyle/>
          <a:p>
            <a:pPr algn="l"/>
            <a:r>
              <a:rPr sz="3800" b="1" i="0">
                <a:solidFill>
                  <a:srgbClr val="001A55"/>
                </a:solidFill>
                <a:latin typeface="Traditional Arabic"/>
                <a:cs typeface="Traditional Arabic"/>
              </a:rPr>
              <a:t>70–100</a:t>
            </a:r>
          </a:p>
        </p:txBody>
      </p:sp>
      <p:sp>
        <p:nvSpPr>
          <p:cNvPr id="26" name="TextBox 25"/>
          <p:cNvSpPr txBox="1"/>
          <p:nvPr/>
        </p:nvSpPr>
        <p:spPr>
          <a:xfrm>
            <a:off x="6903720" y="5120640"/>
            <a:ext cx="4754880" cy="411480"/>
          </a:xfrm>
          <a:prstGeom prst="rect">
            <a:avLst/>
          </a:prstGeom>
          <a:noFill/>
        </p:spPr>
        <p:txBody>
          <a:bodyPr wrap="square">
            <a:spAutoFit/>
          </a:bodyPr>
          <a:lstStyle/>
          <a:p>
            <a:pPr algn="l"/>
            <a:r>
              <a:rPr sz="1400" b="0" i="0">
                <a:solidFill>
                  <a:srgbClr val="8A94AE"/>
                </a:solidFill>
                <a:latin typeface="Traditional Arabic"/>
                <a:cs typeface="Traditional Arabic"/>
              </a:rPr>
              <a:t>مشارك / يوم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0"/>
            <a:ext cx="36576" cy="685800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640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TextBox 7"/>
          <p:cNvSpPr txBox="1"/>
          <p:nvPr/>
        </p:nvSpPr>
        <p:spPr>
          <a:xfrm>
            <a:off x="685800" y="109728"/>
            <a:ext cx="4572000" cy="502920"/>
          </a:xfrm>
          <a:prstGeom prst="rect">
            <a:avLst/>
          </a:prstGeom>
          <a:noFill/>
        </p:spPr>
        <p:txBody>
          <a:bodyPr wrap="square">
            <a:spAutoFit/>
          </a:bodyPr>
          <a:lstStyle/>
          <a:p>
            <a:pPr algn="l" a:rtl="1"/>
            <a:r>
              <a:rPr sz="2600" b="1" i="0">
                <a:solidFill>
                  <a:srgbClr val="001A55"/>
                </a:solidFill>
                <a:latin typeface="Traditional Arabic"/>
                <a:cs typeface="Traditional Arabic"/>
              </a:rPr>
              <a:t>الفهرس</a:t>
            </a:r>
          </a:p>
        </p:txBody>
      </p:sp>
      <p:sp>
        <p:nvSpPr>
          <p:cNvPr id="9" name="Rectangle 8"/>
          <p:cNvSpPr/>
          <p:nvPr/>
        </p:nvSpPr>
        <p:spPr>
          <a:xfrm>
            <a:off x="685800" y="658368"/>
            <a:ext cx="1078992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804672"/>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804672"/>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01</a:t>
            </a:r>
          </a:p>
        </p:txBody>
      </p:sp>
      <p:sp>
        <p:nvSpPr>
          <p:cNvPr id="12" name="TextBox 11"/>
          <p:cNvSpPr txBox="1"/>
          <p:nvPr/>
        </p:nvSpPr>
        <p:spPr>
          <a:xfrm>
            <a:off x="1143000" y="813816"/>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مقدمة الفعالية</a:t>
            </a:r>
          </a:p>
        </p:txBody>
      </p:sp>
      <p:sp>
        <p:nvSpPr>
          <p:cNvPr id="13" name="Rectangle 12"/>
          <p:cNvSpPr/>
          <p:nvPr/>
        </p:nvSpPr>
        <p:spPr>
          <a:xfrm>
            <a:off x="685800" y="1133856"/>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188720"/>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188720"/>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02</a:t>
            </a:r>
          </a:p>
        </p:txBody>
      </p:sp>
      <p:sp>
        <p:nvSpPr>
          <p:cNvPr id="16" name="TextBox 15"/>
          <p:cNvSpPr txBox="1"/>
          <p:nvPr/>
        </p:nvSpPr>
        <p:spPr>
          <a:xfrm>
            <a:off x="1143000" y="1197864"/>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مزايا الاجتماع والفئة المستهدفة</a:t>
            </a:r>
          </a:p>
        </p:txBody>
      </p:sp>
      <p:sp>
        <p:nvSpPr>
          <p:cNvPr id="17" name="Rectangle 16"/>
          <p:cNvSpPr/>
          <p:nvPr/>
        </p:nvSpPr>
        <p:spPr>
          <a:xfrm>
            <a:off x="685800" y="1517904"/>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1572768"/>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1572768"/>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03</a:t>
            </a:r>
          </a:p>
        </p:txBody>
      </p:sp>
      <p:sp>
        <p:nvSpPr>
          <p:cNvPr id="20" name="TextBox 19"/>
          <p:cNvSpPr txBox="1"/>
          <p:nvPr/>
        </p:nvSpPr>
        <p:spPr>
          <a:xfrm>
            <a:off x="1143000" y="1581912"/>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هيكل الفعالية</a:t>
            </a:r>
          </a:p>
        </p:txBody>
      </p:sp>
      <p:sp>
        <p:nvSpPr>
          <p:cNvPr id="21" name="Rectangle 20"/>
          <p:cNvSpPr/>
          <p:nvPr/>
        </p:nvSpPr>
        <p:spPr>
          <a:xfrm>
            <a:off x="685800" y="1901952"/>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1956816"/>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1956816"/>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04</a:t>
            </a:r>
          </a:p>
        </p:txBody>
      </p:sp>
      <p:sp>
        <p:nvSpPr>
          <p:cNvPr id="24" name="TextBox 23"/>
          <p:cNvSpPr txBox="1"/>
          <p:nvPr/>
        </p:nvSpPr>
        <p:spPr>
          <a:xfrm>
            <a:off x="1143000" y="1965960"/>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الأولى  –  المراجعة الداخلية والحوكمة</a:t>
            </a:r>
          </a:p>
        </p:txBody>
      </p:sp>
      <p:sp>
        <p:nvSpPr>
          <p:cNvPr id="25" name="Rectangle 24"/>
          <p:cNvSpPr/>
          <p:nvPr/>
        </p:nvSpPr>
        <p:spPr>
          <a:xfrm>
            <a:off x="685800" y="2286000"/>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2340864"/>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340864"/>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05</a:t>
            </a:r>
          </a:p>
        </p:txBody>
      </p:sp>
      <p:sp>
        <p:nvSpPr>
          <p:cNvPr id="28" name="TextBox 27"/>
          <p:cNvSpPr txBox="1"/>
          <p:nvPr/>
        </p:nvSpPr>
        <p:spPr>
          <a:xfrm>
            <a:off x="1143000" y="2350008"/>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الثانية  –  معايير IPPF 2024</a:t>
            </a:r>
          </a:p>
        </p:txBody>
      </p:sp>
      <p:sp>
        <p:nvSpPr>
          <p:cNvPr id="29" name="Rectangle 28"/>
          <p:cNvSpPr/>
          <p:nvPr/>
        </p:nvSpPr>
        <p:spPr>
          <a:xfrm>
            <a:off x="685800" y="2670048"/>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2724912"/>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2724912"/>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06</a:t>
            </a:r>
          </a:p>
        </p:txBody>
      </p:sp>
      <p:sp>
        <p:nvSpPr>
          <p:cNvPr id="32" name="TextBox 31"/>
          <p:cNvSpPr txBox="1"/>
          <p:nvPr/>
        </p:nvSpPr>
        <p:spPr>
          <a:xfrm>
            <a:off x="1143000" y="2734056"/>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الثالثة  –  إدارة المخاطر المؤسسية</a:t>
            </a:r>
          </a:p>
        </p:txBody>
      </p:sp>
      <p:sp>
        <p:nvSpPr>
          <p:cNvPr id="33" name="Rectangle 32"/>
          <p:cNvSpPr/>
          <p:nvPr/>
        </p:nvSpPr>
        <p:spPr>
          <a:xfrm>
            <a:off x="685800" y="3054096"/>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3108960"/>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3108960"/>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07</a:t>
            </a:r>
          </a:p>
        </p:txBody>
      </p:sp>
      <p:sp>
        <p:nvSpPr>
          <p:cNvPr id="36" name="TextBox 35"/>
          <p:cNvSpPr txBox="1"/>
          <p:nvPr/>
        </p:nvSpPr>
        <p:spPr>
          <a:xfrm>
            <a:off x="1143000" y="3118103"/>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الرابعة  –  التحول الرقمي</a:t>
            </a:r>
          </a:p>
        </p:txBody>
      </p:sp>
      <p:sp>
        <p:nvSpPr>
          <p:cNvPr id="37" name="Rectangle 36"/>
          <p:cNvSpPr/>
          <p:nvPr/>
        </p:nvSpPr>
        <p:spPr>
          <a:xfrm>
            <a:off x="685800" y="3438144"/>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 y="3493008"/>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493008"/>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08</a:t>
            </a:r>
          </a:p>
        </p:txBody>
      </p:sp>
      <p:sp>
        <p:nvSpPr>
          <p:cNvPr id="40" name="TextBox 39"/>
          <p:cNvSpPr txBox="1"/>
          <p:nvPr/>
        </p:nvSpPr>
        <p:spPr>
          <a:xfrm>
            <a:off x="1143000" y="3502151"/>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الخامسة  –  الأخلاقيات والاستقلالية</a:t>
            </a:r>
          </a:p>
        </p:txBody>
      </p:sp>
      <p:sp>
        <p:nvSpPr>
          <p:cNvPr id="41" name="Rectangle 40"/>
          <p:cNvSpPr/>
          <p:nvPr/>
        </p:nvSpPr>
        <p:spPr>
          <a:xfrm>
            <a:off x="685800" y="3822191"/>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92240" y="804672"/>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804672"/>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09</a:t>
            </a:r>
          </a:p>
        </p:txBody>
      </p:sp>
      <p:sp>
        <p:nvSpPr>
          <p:cNvPr id="44" name="TextBox 43"/>
          <p:cNvSpPr txBox="1"/>
          <p:nvPr/>
        </p:nvSpPr>
        <p:spPr>
          <a:xfrm>
            <a:off x="6949440" y="813816"/>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السادسة  –  المراجعة القائمة على المخاطر</a:t>
            </a:r>
          </a:p>
        </p:txBody>
      </p:sp>
      <p:sp>
        <p:nvSpPr>
          <p:cNvPr id="45" name="Rectangle 44"/>
          <p:cNvSpPr/>
          <p:nvPr/>
        </p:nvSpPr>
        <p:spPr>
          <a:xfrm>
            <a:off x="6492240" y="1133856"/>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92240" y="1188720"/>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92240" y="1188720"/>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10</a:t>
            </a:r>
          </a:p>
        </p:txBody>
      </p:sp>
      <p:sp>
        <p:nvSpPr>
          <p:cNvPr id="48" name="TextBox 47"/>
          <p:cNvSpPr txBox="1"/>
          <p:nvPr/>
        </p:nvSpPr>
        <p:spPr>
          <a:xfrm>
            <a:off x="6949440" y="1197864"/>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السابعة  –  مكافحة الاحتيال</a:t>
            </a:r>
          </a:p>
        </p:txBody>
      </p:sp>
      <p:sp>
        <p:nvSpPr>
          <p:cNvPr id="49" name="Rectangle 48"/>
          <p:cNvSpPr/>
          <p:nvPr/>
        </p:nvSpPr>
        <p:spPr>
          <a:xfrm>
            <a:off x="6492240" y="1517904"/>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92240" y="1572768"/>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92240" y="1572768"/>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11</a:t>
            </a:r>
          </a:p>
        </p:txBody>
      </p:sp>
      <p:sp>
        <p:nvSpPr>
          <p:cNvPr id="52" name="TextBox 51"/>
          <p:cNvSpPr txBox="1"/>
          <p:nvPr/>
        </p:nvSpPr>
        <p:spPr>
          <a:xfrm>
            <a:off x="6949440" y="1581912"/>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الثامنة  –  تقييم الرقابة الداخلية COSO</a:t>
            </a:r>
          </a:p>
        </p:txBody>
      </p:sp>
      <p:sp>
        <p:nvSpPr>
          <p:cNvPr id="53" name="Rectangle 52"/>
          <p:cNvSpPr/>
          <p:nvPr/>
        </p:nvSpPr>
        <p:spPr>
          <a:xfrm>
            <a:off x="6492240" y="1901952"/>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92240" y="1956816"/>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1956816"/>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12</a:t>
            </a:r>
          </a:p>
        </p:txBody>
      </p:sp>
      <p:sp>
        <p:nvSpPr>
          <p:cNvPr id="56" name="TextBox 55"/>
          <p:cNvSpPr txBox="1"/>
          <p:nvPr/>
        </p:nvSpPr>
        <p:spPr>
          <a:xfrm>
            <a:off x="6949440" y="1965960"/>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التاسعة  –  مستقبل المهنة ورؤية 2030</a:t>
            </a:r>
          </a:p>
        </p:txBody>
      </p:sp>
      <p:sp>
        <p:nvSpPr>
          <p:cNvPr id="57" name="Rectangle 56"/>
          <p:cNvSpPr/>
          <p:nvPr/>
        </p:nvSpPr>
        <p:spPr>
          <a:xfrm>
            <a:off x="6492240" y="2286000"/>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92240" y="2340864"/>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92240" y="2340864"/>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13</a:t>
            </a:r>
          </a:p>
        </p:txBody>
      </p:sp>
      <p:sp>
        <p:nvSpPr>
          <p:cNvPr id="60" name="TextBox 59"/>
          <p:cNvSpPr txBox="1"/>
          <p:nvPr/>
        </p:nvSpPr>
        <p:spPr>
          <a:xfrm>
            <a:off x="6949440" y="2350008"/>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الجلسة العاشرة  –  تكامل المراجعتين</a:t>
            </a:r>
          </a:p>
        </p:txBody>
      </p:sp>
      <p:sp>
        <p:nvSpPr>
          <p:cNvPr id="61" name="Rectangle 60"/>
          <p:cNvSpPr/>
          <p:nvPr/>
        </p:nvSpPr>
        <p:spPr>
          <a:xfrm>
            <a:off x="6492240" y="2670048"/>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492240" y="2724912"/>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92240" y="2724912"/>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14</a:t>
            </a:r>
          </a:p>
        </p:txBody>
      </p:sp>
      <p:sp>
        <p:nvSpPr>
          <p:cNvPr id="64" name="TextBox 63"/>
          <p:cNvSpPr txBox="1"/>
          <p:nvPr/>
        </p:nvSpPr>
        <p:spPr>
          <a:xfrm>
            <a:off x="6949440" y="2734056"/>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التكاليف التقديرية</a:t>
            </a:r>
          </a:p>
        </p:txBody>
      </p:sp>
      <p:sp>
        <p:nvSpPr>
          <p:cNvPr id="65" name="Rectangle 64"/>
          <p:cNvSpPr/>
          <p:nvPr/>
        </p:nvSpPr>
        <p:spPr>
          <a:xfrm>
            <a:off x="6492240" y="3054096"/>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492240" y="3108960"/>
            <a:ext cx="384048" cy="31089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92240" y="3108960"/>
            <a:ext cx="384048" cy="310896"/>
          </a:xfrm>
          <a:prstGeom prst="rect">
            <a:avLst/>
          </a:prstGeom>
          <a:noFill/>
        </p:spPr>
        <p:txBody>
          <a:bodyPr wrap="square">
            <a:spAutoFit/>
          </a:bodyPr>
          <a:lstStyle/>
          <a:p>
            <a:pPr algn="ctr"/>
            <a:r>
              <a:rPr sz="1100" b="1" i="0">
                <a:solidFill>
                  <a:srgbClr val="FFFFFF"/>
                </a:solidFill>
                <a:latin typeface="Traditional Arabic"/>
                <a:cs typeface="Traditional Arabic"/>
              </a:rPr>
              <a:t>15</a:t>
            </a:r>
          </a:p>
        </p:txBody>
      </p:sp>
      <p:sp>
        <p:nvSpPr>
          <p:cNvPr id="68" name="TextBox 67"/>
          <p:cNvSpPr txBox="1"/>
          <p:nvPr/>
        </p:nvSpPr>
        <p:spPr>
          <a:xfrm>
            <a:off x="6949440" y="3118103"/>
            <a:ext cx="5303520" cy="310896"/>
          </a:xfrm>
          <a:prstGeom prst="rect">
            <a:avLst/>
          </a:prstGeom>
          <a:noFill/>
        </p:spPr>
        <p:txBody>
          <a:bodyPr wrap="square">
            <a:spAutoFit/>
          </a:bodyPr>
          <a:lstStyle/>
          <a:p>
            <a:pPr algn="l"/>
            <a:r>
              <a:rPr sz="1200" b="0" i="0">
                <a:solidFill>
                  <a:srgbClr val="0D1A33"/>
                </a:solidFill>
                <a:latin typeface="Traditional Arabic"/>
                <a:cs typeface="Traditional Arabic"/>
              </a:rPr>
              <a:t>الإيرادات المتوقعة</a:t>
            </a:r>
          </a:p>
        </p:txBody>
      </p:sp>
      <p:sp>
        <p:nvSpPr>
          <p:cNvPr id="69" name="Rectangle 68"/>
          <p:cNvSpPr/>
          <p:nvPr/>
        </p:nvSpPr>
        <p:spPr>
          <a:xfrm>
            <a:off x="6492240" y="3438144"/>
            <a:ext cx="5669280" cy="18288"/>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20040"/>
            <a:ext cx="54864"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058400" cy="868680"/>
          </a:xfrm>
          <a:prstGeom prst="rect">
            <a:avLst/>
          </a:prstGeom>
          <a:noFill/>
        </p:spPr>
        <p:txBody>
          <a:bodyPr wrap="square">
            <a:spAutoFit/>
          </a:bodyPr>
          <a:lstStyle/>
          <a:p>
            <a:pPr algn="l" a:rtl="1"/>
            <a:r>
              <a:rPr sz="3000" b="1" i="0">
                <a:solidFill>
                  <a:srgbClr val="FFFFFF"/>
                </a:solidFill>
                <a:latin typeface="Traditional Arabic"/>
                <a:cs typeface="Traditional Arabic"/>
              </a:rPr>
              <a:t>مقدمة عن الفعالية</a:t>
            </a: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Rectangle 7"/>
          <p:cNvSpPr/>
          <p:nvPr/>
        </p:nvSpPr>
        <p:spPr>
          <a:xfrm>
            <a:off x="365760" y="1325880"/>
            <a:ext cx="11457432" cy="512064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25880"/>
            <a:ext cx="64008" cy="5120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08760"/>
            <a:ext cx="11091672"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508760"/>
            <a:ext cx="1109167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709928"/>
            <a:ext cx="420624" cy="42062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709928"/>
            <a:ext cx="420624" cy="420624"/>
          </a:xfrm>
          <a:prstGeom prst="rect">
            <a:avLst/>
          </a:prstGeom>
          <a:noFill/>
        </p:spPr>
        <p:txBody>
          <a:bodyPr wrap="square">
            <a:spAutoFit/>
          </a:bodyPr>
          <a:lstStyle/>
          <a:p>
            <a:pPr algn="ctr"/>
            <a:r>
              <a:rPr sz="1400" b="1" i="0">
                <a:solidFill>
                  <a:srgbClr val="FFFFFF"/>
                </a:solidFill>
                <a:latin typeface="Traditional Arabic"/>
                <a:cs typeface="Traditional Arabic"/>
              </a:rPr>
              <a:t>1</a:t>
            </a:r>
          </a:p>
        </p:txBody>
      </p:sp>
      <p:sp>
        <p:nvSpPr>
          <p:cNvPr id="14" name="TextBox 13"/>
          <p:cNvSpPr txBox="1"/>
          <p:nvPr/>
        </p:nvSpPr>
        <p:spPr>
          <a:xfrm>
            <a:off x="1188720" y="1636776"/>
            <a:ext cx="10241280" cy="1115568"/>
          </a:xfrm>
          <a:prstGeom prst="rect">
            <a:avLst/>
          </a:prstGeom>
          <a:noFill/>
        </p:spPr>
        <p:txBody>
          <a:bodyPr wrap="square">
            <a:spAutoFit/>
          </a:bodyPr>
          <a:lstStyle/>
          <a:p>
            <a:pPr algn="r" a:rtl="1"/>
            <a:r>
              <a:rPr sz="1300" b="0" i="0">
                <a:solidFill>
                  <a:srgbClr val="0D1A33"/>
                </a:solidFill>
                <a:latin typeface="Traditional Arabic"/>
                <a:cs typeface="Traditional Arabic"/>
              </a:rPr>
              <a:t>فعالية غداء العمل في مجال المراجعة الداخلية هي تجمّع مهني راقٍ تُقيمه شركة العوفي والحربي لمحاسبون ومراجعون قانونيون بوصفها منظّماً ورعيةً رئيسيةً، في بيئة احترافية تجمع بين الطرح الأكاديمي والتطبيق العملي.</a:t>
            </a:r>
          </a:p>
        </p:txBody>
      </p:sp>
      <p:sp>
        <p:nvSpPr>
          <p:cNvPr id="15" name="Rectangle 14"/>
          <p:cNvSpPr/>
          <p:nvPr/>
        </p:nvSpPr>
        <p:spPr>
          <a:xfrm>
            <a:off x="548640" y="3081528"/>
            <a:ext cx="11091672"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81528"/>
            <a:ext cx="1109167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282696"/>
            <a:ext cx="420624" cy="42062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282696"/>
            <a:ext cx="420624" cy="420624"/>
          </a:xfrm>
          <a:prstGeom prst="rect">
            <a:avLst/>
          </a:prstGeom>
          <a:noFill/>
        </p:spPr>
        <p:txBody>
          <a:bodyPr wrap="square">
            <a:spAutoFit/>
          </a:bodyPr>
          <a:lstStyle/>
          <a:p>
            <a:pPr algn="ctr"/>
            <a:r>
              <a:rPr sz="1400" b="1" i="0">
                <a:solidFill>
                  <a:srgbClr val="FFFFFF"/>
                </a:solidFill>
                <a:latin typeface="Traditional Arabic"/>
                <a:cs typeface="Traditional Arabic"/>
              </a:rPr>
              <a:t>2</a:t>
            </a:r>
          </a:p>
        </p:txBody>
      </p:sp>
      <p:sp>
        <p:nvSpPr>
          <p:cNvPr id="19" name="TextBox 18"/>
          <p:cNvSpPr txBox="1"/>
          <p:nvPr/>
        </p:nvSpPr>
        <p:spPr>
          <a:xfrm>
            <a:off x="1188720" y="3209544"/>
            <a:ext cx="10241280" cy="1115568"/>
          </a:xfrm>
          <a:prstGeom prst="rect">
            <a:avLst/>
          </a:prstGeom>
          <a:noFill/>
        </p:spPr>
        <p:txBody>
          <a:bodyPr wrap="square">
            <a:spAutoFit/>
          </a:bodyPr>
          <a:lstStyle/>
          <a:p>
            <a:pPr algn="r" a:rtl="1"/>
            <a:r>
              <a:rPr sz="1300" b="0" i="0">
                <a:solidFill>
                  <a:srgbClr val="0D1A33"/>
                </a:solidFill>
                <a:latin typeface="Traditional Arabic"/>
                <a:cs typeface="Traditional Arabic"/>
              </a:rPr>
              <a:t>تُقام الفعالية على مدى يومين متتاليين وتضمّ عشر جلسات حوارية متخصصة، كل جلسة تتناول موضوعاً محورياً في مهنة المراجعة الداخلية بأسلوب تفاعلي ومُثري.</a:t>
            </a:r>
          </a:p>
        </p:txBody>
      </p:sp>
      <p:sp>
        <p:nvSpPr>
          <p:cNvPr id="20" name="Rectangle 19"/>
          <p:cNvSpPr/>
          <p:nvPr/>
        </p:nvSpPr>
        <p:spPr>
          <a:xfrm>
            <a:off x="548640" y="4654296"/>
            <a:ext cx="11091672"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654296"/>
            <a:ext cx="1109167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855464"/>
            <a:ext cx="420624" cy="42062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855464"/>
            <a:ext cx="420624" cy="420624"/>
          </a:xfrm>
          <a:prstGeom prst="rect">
            <a:avLst/>
          </a:prstGeom>
          <a:noFill/>
        </p:spPr>
        <p:txBody>
          <a:bodyPr wrap="square">
            <a:spAutoFit/>
          </a:bodyPr>
          <a:lstStyle/>
          <a:p>
            <a:pPr algn="ctr"/>
            <a:r>
              <a:rPr sz="1400" b="1" i="0">
                <a:solidFill>
                  <a:srgbClr val="FFFFFF"/>
                </a:solidFill>
                <a:latin typeface="Traditional Arabic"/>
                <a:cs typeface="Traditional Arabic"/>
              </a:rPr>
              <a:t>3</a:t>
            </a:r>
          </a:p>
        </p:txBody>
      </p:sp>
      <p:sp>
        <p:nvSpPr>
          <p:cNvPr id="24" name="TextBox 23"/>
          <p:cNvSpPr txBox="1"/>
          <p:nvPr/>
        </p:nvSpPr>
        <p:spPr>
          <a:xfrm>
            <a:off x="1188720" y="4782312"/>
            <a:ext cx="10241280" cy="1115568"/>
          </a:xfrm>
          <a:prstGeom prst="rect">
            <a:avLst/>
          </a:prstGeom>
          <a:noFill/>
        </p:spPr>
        <p:txBody>
          <a:bodyPr wrap="square">
            <a:spAutoFit/>
          </a:bodyPr>
          <a:lstStyle/>
          <a:p>
            <a:pPr algn="r" a:rtl="1"/>
            <a:r>
              <a:rPr sz="1300" b="0" i="0">
                <a:solidFill>
                  <a:srgbClr val="0D1A33"/>
                </a:solidFill>
                <a:latin typeface="Traditional Arabic"/>
                <a:cs typeface="Traditional Arabic"/>
              </a:rPr>
              <a:t>تُدار كل جلسة بمدير حوار متخصص من مكتب العوفي والحربي، ويُشارك فيها راعٍ مؤسسي واثنان من المتحدثين المستقلين ذوي الكفاءة والخبرة المعمّقة في المجال.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20040"/>
            <a:ext cx="54864"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058400" cy="868680"/>
          </a:xfrm>
          <a:prstGeom prst="rect">
            <a:avLst/>
          </a:prstGeom>
          <a:noFill/>
        </p:spPr>
        <p:txBody>
          <a:bodyPr wrap="square">
            <a:spAutoFit/>
          </a:bodyPr>
          <a:lstStyle/>
          <a:p>
            <a:pPr algn="l" a:rtl="1"/>
            <a:r>
              <a:rPr sz="3000" b="1" i="0">
                <a:solidFill>
                  <a:srgbClr val="FFFFFF"/>
                </a:solidFill>
                <a:latin typeface="Traditional Arabic"/>
                <a:cs typeface="Traditional Arabic"/>
              </a:rPr>
              <a:t>مزايا الاجتماع</a:t>
            </a: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Rectangle 7"/>
          <p:cNvSpPr/>
          <p:nvPr/>
        </p:nvSpPr>
        <p:spPr>
          <a:xfrm>
            <a:off x="365760" y="1325880"/>
            <a:ext cx="3621024" cy="512064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25880"/>
            <a:ext cx="3621024"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325880"/>
            <a:ext cx="3621024" cy="502920"/>
          </a:xfrm>
          <a:prstGeom prst="rect">
            <a:avLst/>
          </a:prstGeom>
          <a:noFill/>
        </p:spPr>
        <p:txBody>
          <a:bodyPr wrap="square">
            <a:spAutoFit/>
          </a:bodyPr>
          <a:lstStyle/>
          <a:p>
            <a:pPr algn="ctr" a:rtl="1"/>
            <a:r>
              <a:rPr sz="1200" b="1" i="0">
                <a:solidFill>
                  <a:srgbClr val="FFFFFF"/>
                </a:solidFill>
                <a:latin typeface="Traditional Arabic"/>
                <a:cs typeface="Traditional Arabic"/>
              </a:rPr>
              <a:t>مزايا للحضور والمشاركين</a:t>
            </a:r>
          </a:p>
        </p:txBody>
      </p:sp>
      <p:sp>
        <p:nvSpPr>
          <p:cNvPr id="11" name="Rectangle 10"/>
          <p:cNvSpPr/>
          <p:nvPr/>
        </p:nvSpPr>
        <p:spPr>
          <a:xfrm>
            <a:off x="475488" y="19202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19202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1031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1031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1</a:t>
            </a:r>
          </a:p>
        </p:txBody>
      </p:sp>
      <p:sp>
        <p:nvSpPr>
          <p:cNvPr id="15" name="TextBox 14"/>
          <p:cNvSpPr txBox="1"/>
          <p:nvPr/>
        </p:nvSpPr>
        <p:spPr>
          <a:xfrm>
            <a:off x="960120" y="19751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اكتساب معرفة معمّقة بأحدث ممارسات ومعايير المراجعة الداخلية</a:t>
            </a:r>
          </a:p>
        </p:txBody>
      </p:sp>
      <p:sp>
        <p:nvSpPr>
          <p:cNvPr id="16" name="Rectangle 15"/>
          <p:cNvSpPr/>
          <p:nvPr/>
        </p:nvSpPr>
        <p:spPr>
          <a:xfrm>
            <a:off x="475488" y="28346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 y="28346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175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175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2</a:t>
            </a:r>
          </a:p>
        </p:txBody>
      </p:sp>
      <p:sp>
        <p:nvSpPr>
          <p:cNvPr id="20" name="TextBox 19"/>
          <p:cNvSpPr txBox="1"/>
          <p:nvPr/>
        </p:nvSpPr>
        <p:spPr>
          <a:xfrm>
            <a:off x="960120" y="28895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بناء شبكة علاقات مهنية مع النخبة من المختصين والمراجعين</a:t>
            </a:r>
          </a:p>
        </p:txBody>
      </p:sp>
      <p:sp>
        <p:nvSpPr>
          <p:cNvPr id="21" name="Rectangle 20"/>
          <p:cNvSpPr/>
          <p:nvPr/>
        </p:nvSpPr>
        <p:spPr>
          <a:xfrm>
            <a:off x="475488" y="3749039"/>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3749039"/>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319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9319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3</a:t>
            </a:r>
          </a:p>
        </p:txBody>
      </p:sp>
      <p:sp>
        <p:nvSpPr>
          <p:cNvPr id="25" name="TextBox 24"/>
          <p:cNvSpPr txBox="1"/>
          <p:nvPr/>
        </p:nvSpPr>
        <p:spPr>
          <a:xfrm>
            <a:off x="960120" y="38039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مناقشة التحديات العملية واستقاء الحلول من المتخصصين</a:t>
            </a:r>
          </a:p>
        </p:txBody>
      </p:sp>
      <p:sp>
        <p:nvSpPr>
          <p:cNvPr id="26" name="Rectangle 25"/>
          <p:cNvSpPr/>
          <p:nvPr/>
        </p:nvSpPr>
        <p:spPr>
          <a:xfrm>
            <a:off x="475488" y="46634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46634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8463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463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4</a:t>
            </a:r>
          </a:p>
        </p:txBody>
      </p:sp>
      <p:sp>
        <p:nvSpPr>
          <p:cNvPr id="30" name="TextBox 29"/>
          <p:cNvSpPr txBox="1"/>
          <p:nvPr/>
        </p:nvSpPr>
        <p:spPr>
          <a:xfrm>
            <a:off x="960120" y="47183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الحصول على ساعات التطوير المهني المستمر (CPE)</a:t>
            </a:r>
          </a:p>
        </p:txBody>
      </p:sp>
      <p:sp>
        <p:nvSpPr>
          <p:cNvPr id="31" name="Rectangle 30"/>
          <p:cNvSpPr/>
          <p:nvPr/>
        </p:nvSpPr>
        <p:spPr>
          <a:xfrm>
            <a:off x="475488" y="55778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55778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7607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7607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5</a:t>
            </a:r>
          </a:p>
        </p:txBody>
      </p:sp>
      <p:sp>
        <p:nvSpPr>
          <p:cNvPr id="35" name="TextBox 34"/>
          <p:cNvSpPr txBox="1"/>
          <p:nvPr/>
        </p:nvSpPr>
        <p:spPr>
          <a:xfrm>
            <a:off x="960120" y="56327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الاطلاع على أفضل الممارسات المحلية والعالمية في المهنة</a:t>
            </a:r>
          </a:p>
        </p:txBody>
      </p:sp>
      <p:sp>
        <p:nvSpPr>
          <p:cNvPr id="36" name="Rectangle 35"/>
          <p:cNvSpPr/>
          <p:nvPr/>
        </p:nvSpPr>
        <p:spPr>
          <a:xfrm>
            <a:off x="4187952" y="1325880"/>
            <a:ext cx="3621024" cy="512064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87952" y="1325880"/>
            <a:ext cx="3621024"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87952" y="1325880"/>
            <a:ext cx="3621024" cy="502920"/>
          </a:xfrm>
          <a:prstGeom prst="rect">
            <a:avLst/>
          </a:prstGeom>
          <a:noFill/>
        </p:spPr>
        <p:txBody>
          <a:bodyPr wrap="square">
            <a:spAutoFit/>
          </a:bodyPr>
          <a:lstStyle/>
          <a:p>
            <a:pPr algn="ctr" a:rtl="1"/>
            <a:r>
              <a:rPr sz="1200" b="1" i="0">
                <a:solidFill>
                  <a:srgbClr val="FFFFFF"/>
                </a:solidFill>
                <a:latin typeface="Traditional Arabic"/>
                <a:cs typeface="Traditional Arabic"/>
              </a:rPr>
              <a:t>مزايا للرعاة والجهات الداعمة</a:t>
            </a:r>
          </a:p>
        </p:txBody>
      </p:sp>
      <p:sp>
        <p:nvSpPr>
          <p:cNvPr id="39" name="Rectangle 38"/>
          <p:cNvSpPr/>
          <p:nvPr/>
        </p:nvSpPr>
        <p:spPr>
          <a:xfrm>
            <a:off x="4297680" y="19202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97680" y="19202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89120" y="21031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0" y="21031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1</a:t>
            </a:r>
          </a:p>
        </p:txBody>
      </p:sp>
      <p:sp>
        <p:nvSpPr>
          <p:cNvPr id="43" name="TextBox 42"/>
          <p:cNvSpPr txBox="1"/>
          <p:nvPr/>
        </p:nvSpPr>
        <p:spPr>
          <a:xfrm>
            <a:off x="4782312" y="19751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تعزيز الحضور العلامي أمام صانعي القرار وكبار المختصين</a:t>
            </a:r>
          </a:p>
        </p:txBody>
      </p:sp>
      <p:sp>
        <p:nvSpPr>
          <p:cNvPr id="44" name="Rectangle 43"/>
          <p:cNvSpPr/>
          <p:nvPr/>
        </p:nvSpPr>
        <p:spPr>
          <a:xfrm>
            <a:off x="4297680" y="28346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97680" y="28346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89120" y="30175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0" y="30175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2</a:t>
            </a:r>
          </a:p>
        </p:txBody>
      </p:sp>
      <p:sp>
        <p:nvSpPr>
          <p:cNvPr id="48" name="TextBox 47"/>
          <p:cNvSpPr txBox="1"/>
          <p:nvPr/>
        </p:nvSpPr>
        <p:spPr>
          <a:xfrm>
            <a:off x="4782312" y="28895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استهداف نخبة من المهنيين في بيئة تفاعلية متميزة</a:t>
            </a:r>
          </a:p>
        </p:txBody>
      </p:sp>
      <p:sp>
        <p:nvSpPr>
          <p:cNvPr id="49" name="Rectangle 48"/>
          <p:cNvSpPr/>
          <p:nvPr/>
        </p:nvSpPr>
        <p:spPr>
          <a:xfrm>
            <a:off x="4297680" y="3749039"/>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297680" y="3749039"/>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89120" y="39319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89120" y="39319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3</a:t>
            </a:r>
          </a:p>
        </p:txBody>
      </p:sp>
      <p:sp>
        <p:nvSpPr>
          <p:cNvPr id="53" name="TextBox 52"/>
          <p:cNvSpPr txBox="1"/>
          <p:nvPr/>
        </p:nvSpPr>
        <p:spPr>
          <a:xfrm>
            <a:off x="4782312" y="38039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تقديم المنتجات والخدمات أمام جمهور مؤهّل وذي قرار</a:t>
            </a:r>
          </a:p>
        </p:txBody>
      </p:sp>
      <p:sp>
        <p:nvSpPr>
          <p:cNvPr id="54" name="Rectangle 53"/>
          <p:cNvSpPr/>
          <p:nvPr/>
        </p:nvSpPr>
        <p:spPr>
          <a:xfrm>
            <a:off x="4297680" y="46634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97680" y="46634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389120" y="48463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89120" y="48463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4</a:t>
            </a:r>
          </a:p>
        </p:txBody>
      </p:sp>
      <p:sp>
        <p:nvSpPr>
          <p:cNvPr id="58" name="TextBox 57"/>
          <p:cNvSpPr txBox="1"/>
          <p:nvPr/>
        </p:nvSpPr>
        <p:spPr>
          <a:xfrm>
            <a:off x="4782312" y="47183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بناء شراكات استراتيجية مع مكتب العوفي والحربي</a:t>
            </a:r>
          </a:p>
        </p:txBody>
      </p:sp>
      <p:sp>
        <p:nvSpPr>
          <p:cNvPr id="59" name="Rectangle 58"/>
          <p:cNvSpPr/>
          <p:nvPr/>
        </p:nvSpPr>
        <p:spPr>
          <a:xfrm>
            <a:off x="4297680" y="55778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297680" y="55778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389120" y="57607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89120" y="57607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5</a:t>
            </a:r>
          </a:p>
        </p:txBody>
      </p:sp>
      <p:sp>
        <p:nvSpPr>
          <p:cNvPr id="63" name="TextBox 62"/>
          <p:cNvSpPr txBox="1"/>
          <p:nvPr/>
        </p:nvSpPr>
        <p:spPr>
          <a:xfrm>
            <a:off x="4782312" y="56327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تعزيز القيادة الفكرية للمؤسسة في مجال المراجعة الداخلية</a:t>
            </a:r>
          </a:p>
        </p:txBody>
      </p:sp>
      <p:sp>
        <p:nvSpPr>
          <p:cNvPr id="64" name="Rectangle 63"/>
          <p:cNvSpPr/>
          <p:nvPr/>
        </p:nvSpPr>
        <p:spPr>
          <a:xfrm>
            <a:off x="8010144" y="1325880"/>
            <a:ext cx="3621024" cy="512064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010144" y="1325880"/>
            <a:ext cx="3621024"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10144" y="1325880"/>
            <a:ext cx="3621024" cy="502920"/>
          </a:xfrm>
          <a:prstGeom prst="rect">
            <a:avLst/>
          </a:prstGeom>
          <a:noFill/>
        </p:spPr>
        <p:txBody>
          <a:bodyPr wrap="square">
            <a:spAutoFit/>
          </a:bodyPr>
          <a:lstStyle/>
          <a:p>
            <a:pPr algn="ctr" a:rtl="1"/>
            <a:r>
              <a:rPr sz="1200" b="1" i="0">
                <a:solidFill>
                  <a:srgbClr val="FFFFFF"/>
                </a:solidFill>
                <a:latin typeface="Traditional Arabic"/>
                <a:cs typeface="Traditional Arabic"/>
              </a:rPr>
              <a:t>الفئات المستهدفة</a:t>
            </a:r>
          </a:p>
        </p:txBody>
      </p:sp>
      <p:sp>
        <p:nvSpPr>
          <p:cNvPr id="67" name="Rectangle 66"/>
          <p:cNvSpPr/>
          <p:nvPr/>
        </p:nvSpPr>
        <p:spPr>
          <a:xfrm>
            <a:off x="8119871" y="19202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119871" y="19202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11312" y="21031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11312" y="21031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1</a:t>
            </a:r>
          </a:p>
        </p:txBody>
      </p:sp>
      <p:sp>
        <p:nvSpPr>
          <p:cNvPr id="71" name="TextBox 70"/>
          <p:cNvSpPr txBox="1"/>
          <p:nvPr/>
        </p:nvSpPr>
        <p:spPr>
          <a:xfrm>
            <a:off x="8604504" y="19751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رؤساء لجان المراجعة وأعضاء مجالس الإدارة</a:t>
            </a:r>
          </a:p>
        </p:txBody>
      </p:sp>
      <p:sp>
        <p:nvSpPr>
          <p:cNvPr id="72" name="Rectangle 71"/>
          <p:cNvSpPr/>
          <p:nvPr/>
        </p:nvSpPr>
        <p:spPr>
          <a:xfrm>
            <a:off x="8119871" y="28346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119871" y="28346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211312" y="30175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211312" y="30175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2</a:t>
            </a:r>
          </a:p>
        </p:txBody>
      </p:sp>
      <p:sp>
        <p:nvSpPr>
          <p:cNvPr id="76" name="TextBox 75"/>
          <p:cNvSpPr txBox="1"/>
          <p:nvPr/>
        </p:nvSpPr>
        <p:spPr>
          <a:xfrm>
            <a:off x="8604504" y="2889504"/>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مديرو ومحترفو المراجعة الداخلية في القطاعين العام والخاص</a:t>
            </a:r>
          </a:p>
        </p:txBody>
      </p:sp>
      <p:sp>
        <p:nvSpPr>
          <p:cNvPr id="77" name="Rectangle 76"/>
          <p:cNvSpPr/>
          <p:nvPr/>
        </p:nvSpPr>
        <p:spPr>
          <a:xfrm>
            <a:off x="8119871" y="3749039"/>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119871" y="3749039"/>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211312" y="39319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11312" y="39319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3</a:t>
            </a:r>
          </a:p>
        </p:txBody>
      </p:sp>
      <p:sp>
        <p:nvSpPr>
          <p:cNvPr id="81" name="TextBox 80"/>
          <p:cNvSpPr txBox="1"/>
          <p:nvPr/>
        </p:nvSpPr>
        <p:spPr>
          <a:xfrm>
            <a:off x="8604504" y="38039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المراجعون الخارجيون والمستشارون الماليون</a:t>
            </a:r>
          </a:p>
        </p:txBody>
      </p:sp>
      <p:sp>
        <p:nvSpPr>
          <p:cNvPr id="82" name="Rectangle 81"/>
          <p:cNvSpPr/>
          <p:nvPr/>
        </p:nvSpPr>
        <p:spPr>
          <a:xfrm>
            <a:off x="8119871" y="46634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119871" y="46634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211312" y="48463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211312" y="48463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4</a:t>
            </a:r>
          </a:p>
        </p:txBody>
      </p:sp>
      <p:sp>
        <p:nvSpPr>
          <p:cNvPr id="86" name="TextBox 85"/>
          <p:cNvSpPr txBox="1"/>
          <p:nvPr/>
        </p:nvSpPr>
        <p:spPr>
          <a:xfrm>
            <a:off x="8604504" y="47183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مسؤولو الامتثال وإدارة المخاطر المؤسسية</a:t>
            </a:r>
          </a:p>
        </p:txBody>
      </p:sp>
      <p:sp>
        <p:nvSpPr>
          <p:cNvPr id="87" name="Rectangle 86"/>
          <p:cNvSpPr/>
          <p:nvPr/>
        </p:nvSpPr>
        <p:spPr>
          <a:xfrm>
            <a:off x="8119871" y="5577840"/>
            <a:ext cx="3401568"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119871" y="5577840"/>
            <a:ext cx="45720" cy="77724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211312" y="5760720"/>
            <a:ext cx="329184"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211312" y="5760720"/>
            <a:ext cx="329184" cy="329184"/>
          </a:xfrm>
          <a:prstGeom prst="rect">
            <a:avLst/>
          </a:prstGeom>
          <a:noFill/>
        </p:spPr>
        <p:txBody>
          <a:bodyPr wrap="square">
            <a:spAutoFit/>
          </a:bodyPr>
          <a:lstStyle/>
          <a:p>
            <a:pPr algn="ctr"/>
            <a:r>
              <a:rPr sz="1100" b="1" i="0">
                <a:solidFill>
                  <a:srgbClr val="FFFFFF"/>
                </a:solidFill>
                <a:latin typeface="Traditional Arabic"/>
                <a:cs typeface="Traditional Arabic"/>
              </a:rPr>
              <a:t>5</a:t>
            </a:r>
          </a:p>
        </p:txBody>
      </p:sp>
      <p:sp>
        <p:nvSpPr>
          <p:cNvPr id="91" name="TextBox 90"/>
          <p:cNvSpPr txBox="1"/>
          <p:nvPr/>
        </p:nvSpPr>
        <p:spPr>
          <a:xfrm>
            <a:off x="8604504" y="5632703"/>
            <a:ext cx="2871216" cy="658368"/>
          </a:xfrm>
          <a:prstGeom prst="rect">
            <a:avLst/>
          </a:prstGeom>
          <a:noFill/>
        </p:spPr>
        <p:txBody>
          <a:bodyPr wrap="square">
            <a:spAutoFit/>
          </a:bodyPr>
          <a:lstStyle/>
          <a:p>
            <a:pPr algn="r" a:rtl="1"/>
            <a:r>
              <a:rPr sz="1100" b="0" i="0">
                <a:solidFill>
                  <a:srgbClr val="0D1A33"/>
                </a:solidFill>
                <a:latin typeface="Traditional Arabic"/>
                <a:cs typeface="Traditional Arabic"/>
              </a:rPr>
              <a:t>الأكاديميون والباحثون في مجال المحاسبة والمراجعة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20040"/>
            <a:ext cx="54864"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058400" cy="868680"/>
          </a:xfrm>
          <a:prstGeom prst="rect">
            <a:avLst/>
          </a:prstGeom>
          <a:noFill/>
        </p:spPr>
        <p:txBody>
          <a:bodyPr wrap="square">
            <a:spAutoFit/>
          </a:bodyPr>
          <a:lstStyle/>
          <a:p>
            <a:pPr algn="l" a:rtl="1"/>
            <a:r>
              <a:rPr sz="3000" b="1" i="0">
                <a:solidFill>
                  <a:srgbClr val="FFFFFF"/>
                </a:solidFill>
                <a:latin typeface="Traditional Arabic"/>
                <a:cs typeface="Traditional Arabic"/>
              </a:rPr>
              <a:t>هيكل الفعالية</a:t>
            </a: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Rectangle 7"/>
          <p:cNvSpPr/>
          <p:nvPr/>
        </p:nvSpPr>
        <p:spPr>
          <a:xfrm>
            <a:off x="365760" y="1325880"/>
            <a:ext cx="5724144" cy="516636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25880"/>
            <a:ext cx="5724144"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325880"/>
            <a:ext cx="5724144" cy="502920"/>
          </a:xfrm>
          <a:prstGeom prst="rect">
            <a:avLst/>
          </a:prstGeom>
          <a:noFill/>
        </p:spPr>
        <p:txBody>
          <a:bodyPr wrap="square">
            <a:spAutoFit/>
          </a:bodyPr>
          <a:lstStyle/>
          <a:p>
            <a:pPr algn="ctr"/>
            <a:r>
              <a:rPr sz="1600" b="1" i="0">
                <a:solidFill>
                  <a:srgbClr val="FFFFFF"/>
                </a:solidFill>
                <a:latin typeface="Traditional Arabic"/>
                <a:cs typeface="Traditional Arabic"/>
              </a:rPr>
              <a:t>اليوم الأول</a:t>
            </a:r>
          </a:p>
        </p:txBody>
      </p:sp>
      <p:sp>
        <p:nvSpPr>
          <p:cNvPr id="11" name="Rectangle 10"/>
          <p:cNvSpPr/>
          <p:nvPr/>
        </p:nvSpPr>
        <p:spPr>
          <a:xfrm>
            <a:off x="411480" y="1920240"/>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9202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41264" y="2121408"/>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41264" y="2121408"/>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1</a:t>
            </a:r>
          </a:p>
        </p:txBody>
      </p:sp>
      <p:sp>
        <p:nvSpPr>
          <p:cNvPr id="15" name="TextBox 14"/>
          <p:cNvSpPr txBox="1"/>
          <p:nvPr/>
        </p:nvSpPr>
        <p:spPr>
          <a:xfrm>
            <a:off x="530352" y="21031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1  –  المراجعة الداخلية والحوكمة</a:t>
            </a:r>
          </a:p>
        </p:txBody>
      </p:sp>
      <p:sp>
        <p:nvSpPr>
          <p:cNvPr id="16" name="Rectangle 15"/>
          <p:cNvSpPr/>
          <p:nvPr/>
        </p:nvSpPr>
        <p:spPr>
          <a:xfrm>
            <a:off x="411480" y="2834640"/>
            <a:ext cx="5632704" cy="82296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8346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41264" y="3035808"/>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1264" y="3035808"/>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2</a:t>
            </a:r>
          </a:p>
        </p:txBody>
      </p:sp>
      <p:sp>
        <p:nvSpPr>
          <p:cNvPr id="20" name="TextBox 19"/>
          <p:cNvSpPr txBox="1"/>
          <p:nvPr/>
        </p:nvSpPr>
        <p:spPr>
          <a:xfrm>
            <a:off x="530352" y="30175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2  –  معايير IPPF 2024</a:t>
            </a:r>
          </a:p>
        </p:txBody>
      </p:sp>
      <p:sp>
        <p:nvSpPr>
          <p:cNvPr id="21" name="Rectangle 20"/>
          <p:cNvSpPr/>
          <p:nvPr/>
        </p:nvSpPr>
        <p:spPr>
          <a:xfrm>
            <a:off x="411480" y="3749039"/>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749039"/>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41264" y="39502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41264" y="39502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3</a:t>
            </a:r>
          </a:p>
        </p:txBody>
      </p:sp>
      <p:sp>
        <p:nvSpPr>
          <p:cNvPr id="25" name="TextBox 24"/>
          <p:cNvSpPr txBox="1"/>
          <p:nvPr/>
        </p:nvSpPr>
        <p:spPr>
          <a:xfrm>
            <a:off x="530352" y="39319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3  –  إدارة المخاطر المؤسسية</a:t>
            </a:r>
          </a:p>
        </p:txBody>
      </p:sp>
      <p:sp>
        <p:nvSpPr>
          <p:cNvPr id="26" name="Rectangle 25"/>
          <p:cNvSpPr/>
          <p:nvPr/>
        </p:nvSpPr>
        <p:spPr>
          <a:xfrm>
            <a:off x="411480" y="4663440"/>
            <a:ext cx="5632704" cy="82296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6634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41264" y="48646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41264" y="48646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4</a:t>
            </a:r>
          </a:p>
        </p:txBody>
      </p:sp>
      <p:sp>
        <p:nvSpPr>
          <p:cNvPr id="30" name="TextBox 29"/>
          <p:cNvSpPr txBox="1"/>
          <p:nvPr/>
        </p:nvSpPr>
        <p:spPr>
          <a:xfrm>
            <a:off x="530352" y="48463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4  –  التحول الرقمي والمراجعة</a:t>
            </a:r>
          </a:p>
        </p:txBody>
      </p:sp>
      <p:sp>
        <p:nvSpPr>
          <p:cNvPr id="31" name="Rectangle 30"/>
          <p:cNvSpPr/>
          <p:nvPr/>
        </p:nvSpPr>
        <p:spPr>
          <a:xfrm>
            <a:off x="411480" y="5577840"/>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55778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41264" y="57790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1264" y="57790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5</a:t>
            </a:r>
          </a:p>
        </p:txBody>
      </p:sp>
      <p:sp>
        <p:nvSpPr>
          <p:cNvPr id="35" name="TextBox 34"/>
          <p:cNvSpPr txBox="1"/>
          <p:nvPr/>
        </p:nvSpPr>
        <p:spPr>
          <a:xfrm>
            <a:off x="530352" y="57607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5  –  الأخلاقيات والاستقلالية</a:t>
            </a:r>
          </a:p>
        </p:txBody>
      </p:sp>
      <p:sp>
        <p:nvSpPr>
          <p:cNvPr id="36" name="Rectangle 35"/>
          <p:cNvSpPr/>
          <p:nvPr/>
        </p:nvSpPr>
        <p:spPr>
          <a:xfrm>
            <a:off x="6281928" y="1325880"/>
            <a:ext cx="5724144" cy="516636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81928" y="1325880"/>
            <a:ext cx="5724144"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1325880"/>
            <a:ext cx="5724144" cy="502920"/>
          </a:xfrm>
          <a:prstGeom prst="rect">
            <a:avLst/>
          </a:prstGeom>
          <a:noFill/>
        </p:spPr>
        <p:txBody>
          <a:bodyPr wrap="square">
            <a:spAutoFit/>
          </a:bodyPr>
          <a:lstStyle/>
          <a:p>
            <a:pPr algn="ctr"/>
            <a:r>
              <a:rPr sz="1600" b="1" i="0">
                <a:solidFill>
                  <a:srgbClr val="FFFFFF"/>
                </a:solidFill>
                <a:latin typeface="Traditional Arabic"/>
                <a:cs typeface="Traditional Arabic"/>
              </a:rPr>
              <a:t>اليوم الثاني</a:t>
            </a:r>
          </a:p>
        </p:txBody>
      </p:sp>
      <p:sp>
        <p:nvSpPr>
          <p:cNvPr id="39" name="Rectangle 38"/>
          <p:cNvSpPr/>
          <p:nvPr/>
        </p:nvSpPr>
        <p:spPr>
          <a:xfrm>
            <a:off x="6327648" y="1920240"/>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27648" y="19202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457432" y="2121408"/>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457432" y="2121408"/>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6</a:t>
            </a:r>
          </a:p>
        </p:txBody>
      </p:sp>
      <p:sp>
        <p:nvSpPr>
          <p:cNvPr id="43" name="TextBox 42"/>
          <p:cNvSpPr txBox="1"/>
          <p:nvPr/>
        </p:nvSpPr>
        <p:spPr>
          <a:xfrm>
            <a:off x="6446520" y="21031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6   –  المراجعة القائمة على المخاطر</a:t>
            </a:r>
          </a:p>
        </p:txBody>
      </p:sp>
      <p:sp>
        <p:nvSpPr>
          <p:cNvPr id="44" name="Rectangle 43"/>
          <p:cNvSpPr/>
          <p:nvPr/>
        </p:nvSpPr>
        <p:spPr>
          <a:xfrm>
            <a:off x="6327648" y="2834640"/>
            <a:ext cx="5632704" cy="82296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27648" y="28346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457432" y="3035808"/>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57432" y="3035808"/>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7</a:t>
            </a:r>
          </a:p>
        </p:txBody>
      </p:sp>
      <p:sp>
        <p:nvSpPr>
          <p:cNvPr id="48" name="TextBox 47"/>
          <p:cNvSpPr txBox="1"/>
          <p:nvPr/>
        </p:nvSpPr>
        <p:spPr>
          <a:xfrm>
            <a:off x="6446520" y="30175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7   –  مكافحة الاحتيال والفساد</a:t>
            </a:r>
          </a:p>
        </p:txBody>
      </p:sp>
      <p:sp>
        <p:nvSpPr>
          <p:cNvPr id="49" name="Rectangle 48"/>
          <p:cNvSpPr/>
          <p:nvPr/>
        </p:nvSpPr>
        <p:spPr>
          <a:xfrm>
            <a:off x="6327648" y="3749039"/>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27648" y="3749039"/>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457432" y="39502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57432" y="39502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8</a:t>
            </a:r>
          </a:p>
        </p:txBody>
      </p:sp>
      <p:sp>
        <p:nvSpPr>
          <p:cNvPr id="53" name="TextBox 52"/>
          <p:cNvSpPr txBox="1"/>
          <p:nvPr/>
        </p:nvSpPr>
        <p:spPr>
          <a:xfrm>
            <a:off x="6446520" y="39319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8   –  تقييم الرقابة الداخلية COSO</a:t>
            </a:r>
          </a:p>
        </p:txBody>
      </p:sp>
      <p:sp>
        <p:nvSpPr>
          <p:cNvPr id="54" name="Rectangle 53"/>
          <p:cNvSpPr/>
          <p:nvPr/>
        </p:nvSpPr>
        <p:spPr>
          <a:xfrm>
            <a:off x="6327648" y="4663440"/>
            <a:ext cx="5632704" cy="82296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27648" y="46634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1457432" y="48646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457432" y="48646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9</a:t>
            </a:r>
          </a:p>
        </p:txBody>
      </p:sp>
      <p:sp>
        <p:nvSpPr>
          <p:cNvPr id="58" name="TextBox 57"/>
          <p:cNvSpPr txBox="1"/>
          <p:nvPr/>
        </p:nvSpPr>
        <p:spPr>
          <a:xfrm>
            <a:off x="6446520" y="48463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9   –  مستقبل المهنة ورؤية 2030</a:t>
            </a:r>
          </a:p>
        </p:txBody>
      </p:sp>
      <p:sp>
        <p:nvSpPr>
          <p:cNvPr id="59" name="Rectangle 58"/>
          <p:cNvSpPr/>
          <p:nvPr/>
        </p:nvSpPr>
        <p:spPr>
          <a:xfrm>
            <a:off x="6327648" y="5577840"/>
            <a:ext cx="5632704"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27648" y="5577840"/>
            <a:ext cx="45720" cy="8229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457432" y="5779007"/>
            <a:ext cx="402336"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457432" y="5779007"/>
            <a:ext cx="402336" cy="402336"/>
          </a:xfrm>
          <a:prstGeom prst="rect">
            <a:avLst/>
          </a:prstGeom>
          <a:noFill/>
        </p:spPr>
        <p:txBody>
          <a:bodyPr wrap="square">
            <a:spAutoFit/>
          </a:bodyPr>
          <a:lstStyle/>
          <a:p>
            <a:pPr algn="ctr"/>
            <a:r>
              <a:rPr sz="1200" b="1" i="0">
                <a:solidFill>
                  <a:srgbClr val="FFFFFF"/>
                </a:solidFill>
                <a:latin typeface="Traditional Arabic"/>
                <a:cs typeface="Traditional Arabic"/>
              </a:rPr>
              <a:t>10</a:t>
            </a:r>
          </a:p>
        </p:txBody>
      </p:sp>
      <p:sp>
        <p:nvSpPr>
          <p:cNvPr id="63" name="TextBox 62"/>
          <p:cNvSpPr txBox="1"/>
          <p:nvPr/>
        </p:nvSpPr>
        <p:spPr>
          <a:xfrm>
            <a:off x="6446520" y="5760720"/>
            <a:ext cx="4901183" cy="475488"/>
          </a:xfrm>
          <a:prstGeom prst="rect">
            <a:avLst/>
          </a:prstGeom>
          <a:noFill/>
        </p:spPr>
        <p:txBody>
          <a:bodyPr wrap="square">
            <a:spAutoFit/>
          </a:bodyPr>
          <a:lstStyle/>
          <a:p>
            <a:pPr algn="l"/>
            <a:r>
              <a:rPr sz="1100" b="0" i="0">
                <a:solidFill>
                  <a:srgbClr val="0D1A33"/>
                </a:solidFill>
                <a:latin typeface="Traditional Arabic"/>
                <a:cs typeface="Traditional Arabic"/>
              </a:rPr>
              <a:t>الجلسة 10  –  تكامل المراجعتين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1</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D1</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1   |   اليوم الأول</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دور المراجعة الداخلية في تعزيز حوكمة الشركات</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مفهوم الحوكمة المؤسسية ومتطلباتها في الأنظمة السعودية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دور المراجع الداخلي في دعم وتعزيز بيئة الحوكمة</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العلاقة التكاملية بين المراجعة الداخلية ومجلس الإدارة</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أفضل الممارسات والتجارب الدولية في حوكمة المراجعة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نماذج تطبيقية من منشآت رائدة في القطاع السعودي</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2</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D1</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2   |   اليوم الأول</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معايير المراجعة الداخلية الدولية (IPPF 2024) والبيئة السعودية</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نظرة عامة على إطار IPPF 2024 وأبرز المستجدات الجوهرية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متطلبات الامتثال للمعايير الدولية وآليات التطبيق المحلي</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المقارنة بين الإطار القديم والجديد وأهم التغييرات</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التحديات العملية في تطبيق المعايير بالمنشآت السعودية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خارطة طريق مقترحة للانتقال إلى الإطار الجديد</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3</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D1</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3   |   اليوم الأول</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إدارة المخاطر المؤسسية وأثرها على خطة المراجعة الداخلية</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إطار إدارة المخاطر المؤسسية (ERM) وركائزه الأساسية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تحديد وتقييم المخاطر الجوهرية في بيئة الأعمال السعودية</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بناء خطة المراجعة السنوية على أساس التحليل الدقيق للمخاطر</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الربط الفعّال بين خريطة المخاطر وأولويات المراجعة الداخلية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قياس فاعلية الاستجابة للمخاطر وتحديث خطة المراجعة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4</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D1</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4   |   اليوم الأول</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التحول الرقمي وأثره على مهنة المراجعة الداخلية</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الذكاء الاصطناعي وتحليل البيانات الضخمة في عمليات المراجعة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أدوات المراجعة الرقمية الحديثة وتطبيقاتها العملية الميدانية</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مراجعة أمن المعلومات وحماية البنية التحتية للأنظمة</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متطلبات تطوير كفاءات المراجع الداخلي في العصر الرقمي</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الفرص والتحديات التي يطرحها التحول الرقمي على المهنة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5</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D1</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5   |   اليوم الأول</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الاستقلالية والموضوعية وأخلاقيات المراجعة الداخلية</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ميثاق الأخلاقيات المهنية للمراجع الداخلي وفق معايير IIA</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الاستقلالية التنظيمية والموضوعية الفردية وآليات ضمانهما</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إدارة حالات تعارض المصالح ومعالجتها بمهنية عالية</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دور الثقافة المؤسسية في تعزيز الأخلاقيات والنزاهة المهنية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تعزيز مكانة المراجع الداخلي وبناء الثقة مع أصحاب المصلحة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6</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D2</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6   |   اليوم الثاني</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المراجعة الداخلية القائمة على المخاطر – المنهجية والتطبيق</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منهجية المراجعة القائمة على المخاطر والإطار النظري المرجعي</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بناء خطة مهمة المراجعة انطلاقاً من التقييم الشامل للمخاطر</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تحديد حجم العينة والإجراءات اللازمة بناءً على درجة المخاطر</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صياغة تقارير المراجعة القائمة على المخاطر بأسلوب مهني</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متابعة تنفيذ التوصيات وقياس أثر برامج المراجعة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7</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D2</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7   |   اليوم الثاني</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دور المراجعة الداخلية في مكافحة الاحتيال والفساد المالي</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طبيعة الاحتيال المالي وأساليب الكشف المبكر في المنشآت</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إطار الوقاية من الاحتيال ودور المراجع الداخلي المحوري</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إجراءات التحقيق الداخلي والأدلة الجنائية عند الاشتباه</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الامتثال لأنظمة مكافحة الاحتيال وغسيل الأموال والرشوة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حالات دراسية من بيئة الأعمال السعودية والعربية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8</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D2</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8   |   اليوم الثاني</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تقييم فاعلية الرقابة الداخلية وفق إطار COSO</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مكونات إطار COSO للرقابة الداخلية ومبادئه الخمسة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منهجيات تقييم فاعلية بيئة الرقابة الداخلية بشكل متكامل</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تحديد نقاط الضعف الجوهرية والإخفاقات الرقابية الحرجة</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بناء خطط المعالجة الفعّالة والمتابعة الدقيقة لتنفيذها</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قياس أثر برامج الرقابة الداخلية على الأداء المؤسسي</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9</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D2</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9   |   اليوم الثاني</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مستقبل مهنة المراجعة الداخلية في ظل رؤية 2030</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الاتجاهات العالمية الراهنة لمهنة المراجعة الداخلية وتطورها</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أثر رؤية 2030 والإصلاحات الاقتصادية الكبرى على مسيرة المهنة</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متطلبات سوق العمل السعودي للمراجع الداخلي الكفء المستقبلي</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مسارات تطوير الكفاءات المهنية والشهادات الدولية المعتمدة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رؤية استشرافية لمستقبل المراجعة الداخلية في المملكة</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02920"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
            <a:ext cx="502920" cy="59436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502920"/>
            <a:ext cx="502920" cy="594360"/>
          </a:xfrm>
          <a:prstGeom prst="rect">
            <a:avLst/>
          </a:prstGeom>
          <a:noFill/>
        </p:spPr>
        <p:txBody>
          <a:bodyPr wrap="square">
            <a:spAutoFit/>
          </a:bodyPr>
          <a:lstStyle/>
          <a:p>
            <a:pPr algn="ctr"/>
            <a:r>
              <a:rPr sz="2200" b="1" i="0">
                <a:solidFill>
                  <a:srgbClr val="FFFFFF"/>
                </a:solidFill>
                <a:latin typeface="Traditional Arabic"/>
                <a:cs typeface="Traditional Arabic"/>
              </a:rPr>
              <a:t>10</a:t>
            </a:r>
          </a:p>
        </p:txBody>
      </p:sp>
      <p:sp>
        <p:nvSpPr>
          <p:cNvPr id="7" name="TextBox 6"/>
          <p:cNvSpPr txBox="1"/>
          <p:nvPr/>
        </p:nvSpPr>
        <p:spPr>
          <a:xfrm>
            <a:off x="0" y="1170432"/>
            <a:ext cx="502920" cy="320040"/>
          </a:xfrm>
          <a:prstGeom prst="rect">
            <a:avLst/>
          </a:prstGeom>
          <a:noFill/>
        </p:spPr>
        <p:txBody>
          <a:bodyPr wrap="square">
            <a:spAutoFit/>
          </a:bodyPr>
          <a:lstStyle/>
          <a:p>
            <a:pPr algn="ctr"/>
            <a:r>
              <a:rPr sz="1100" b="1" i="0">
                <a:solidFill>
                  <a:srgbClr val="E8ECF4"/>
                </a:solidFill>
                <a:latin typeface="Traditional Arabic"/>
                <a:cs typeface="Traditional Arabic"/>
              </a:rPr>
              <a:t>D2</a:t>
            </a:r>
          </a:p>
        </p:txBody>
      </p:sp>
      <p:sp>
        <p:nvSpPr>
          <p:cNvPr id="8" name="Rectangle 7"/>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10" name="Rectangle 9"/>
          <p:cNvSpPr/>
          <p:nvPr/>
        </p:nvSpPr>
        <p:spPr>
          <a:xfrm>
            <a:off x="640080" y="91440"/>
            <a:ext cx="11384280" cy="11155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91440"/>
            <a:ext cx="11384280" cy="36576"/>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8016"/>
            <a:ext cx="9144000" cy="320040"/>
          </a:xfrm>
          <a:prstGeom prst="rect">
            <a:avLst/>
          </a:prstGeom>
          <a:noFill/>
        </p:spPr>
        <p:txBody>
          <a:bodyPr wrap="square">
            <a:spAutoFit/>
          </a:bodyPr>
          <a:lstStyle/>
          <a:p>
            <a:pPr algn="l"/>
            <a:r>
              <a:rPr sz="1100" b="1" i="0">
                <a:solidFill>
                  <a:srgbClr val="1A52A8"/>
                </a:solidFill>
                <a:latin typeface="Traditional Arabic"/>
                <a:cs typeface="Traditional Arabic"/>
              </a:rPr>
              <a:t>الجلسة  10   |   اليوم الثاني</a:t>
            </a:r>
          </a:p>
        </p:txBody>
      </p:sp>
      <p:sp>
        <p:nvSpPr>
          <p:cNvPr id="13" name="TextBox 12"/>
          <p:cNvSpPr txBox="1"/>
          <p:nvPr/>
        </p:nvSpPr>
        <p:spPr>
          <a:xfrm>
            <a:off x="749808" y="420624"/>
            <a:ext cx="11064240" cy="749808"/>
          </a:xfrm>
          <a:prstGeom prst="rect">
            <a:avLst/>
          </a:prstGeom>
          <a:noFill/>
        </p:spPr>
        <p:txBody>
          <a:bodyPr wrap="square">
            <a:spAutoFit/>
          </a:bodyPr>
          <a:lstStyle/>
          <a:p>
            <a:pPr algn="r" a:rtl="1"/>
            <a:r>
              <a:rPr sz="2000" b="1" i="0">
                <a:solidFill>
                  <a:srgbClr val="001A55"/>
                </a:solidFill>
                <a:latin typeface="Traditional Arabic"/>
                <a:cs typeface="Traditional Arabic"/>
              </a:rPr>
              <a:t>التكامل بين المراجعة الداخلية والخارجية ودور لجنة المراجعة</a:t>
            </a:r>
          </a:p>
        </p:txBody>
      </p:sp>
      <p:sp>
        <p:nvSpPr>
          <p:cNvPr id="14" name="Rectangle 13"/>
          <p:cNvSpPr/>
          <p:nvPr/>
        </p:nvSpPr>
        <p:spPr>
          <a:xfrm>
            <a:off x="640080" y="1243584"/>
            <a:ext cx="11384280" cy="3657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353312"/>
            <a:ext cx="7863840" cy="532180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353312"/>
            <a:ext cx="7863840" cy="40233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1353312"/>
            <a:ext cx="7589520" cy="402336"/>
          </a:xfrm>
          <a:prstGeom prst="rect">
            <a:avLst/>
          </a:prstGeom>
          <a:noFill/>
        </p:spPr>
        <p:txBody>
          <a:bodyPr wrap="square">
            <a:spAutoFit/>
          </a:bodyPr>
          <a:lstStyle/>
          <a:p>
            <a:pPr algn="l"/>
            <a:r>
              <a:rPr sz="1300" b="1" i="0">
                <a:solidFill>
                  <a:srgbClr val="FFFFFF"/>
                </a:solidFill>
                <a:latin typeface="Traditional Arabic"/>
                <a:cs typeface="Traditional Arabic"/>
              </a:rPr>
              <a:t>أجندة الجلسة</a:t>
            </a:r>
          </a:p>
        </p:txBody>
      </p:sp>
      <p:sp>
        <p:nvSpPr>
          <p:cNvPr id="18" name="Rectangle 17"/>
          <p:cNvSpPr/>
          <p:nvPr/>
        </p:nvSpPr>
        <p:spPr>
          <a:xfrm>
            <a:off x="640080" y="1828800"/>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075688"/>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075688"/>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أولاً</a:t>
            </a:r>
          </a:p>
        </p:txBody>
      </p:sp>
      <p:sp>
        <p:nvSpPr>
          <p:cNvPr id="21" name="TextBox 20"/>
          <p:cNvSpPr txBox="1"/>
          <p:nvPr/>
        </p:nvSpPr>
        <p:spPr>
          <a:xfrm>
            <a:off x="1755648" y="1938528"/>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الفوارق والتكامل المنهجي بين المراجعة الداخلية والخارجية</a:t>
            </a:r>
          </a:p>
        </p:txBody>
      </p:sp>
      <p:sp>
        <p:nvSpPr>
          <p:cNvPr id="22" name="Rectangle 21"/>
          <p:cNvSpPr/>
          <p:nvPr/>
        </p:nvSpPr>
        <p:spPr>
          <a:xfrm>
            <a:off x="640080" y="2743200"/>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9776"/>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3026664"/>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026664"/>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ثانياً</a:t>
            </a:r>
          </a:p>
        </p:txBody>
      </p:sp>
      <p:sp>
        <p:nvSpPr>
          <p:cNvPr id="26" name="TextBox 25"/>
          <p:cNvSpPr txBox="1"/>
          <p:nvPr/>
        </p:nvSpPr>
        <p:spPr>
          <a:xfrm>
            <a:off x="1755648" y="2889504"/>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آليات التنسيق والتعاون الفعّال بين الفريقين الميدانيين</a:t>
            </a:r>
          </a:p>
        </p:txBody>
      </p:sp>
      <p:sp>
        <p:nvSpPr>
          <p:cNvPr id="27" name="Rectangle 26"/>
          <p:cNvSpPr/>
          <p:nvPr/>
        </p:nvSpPr>
        <p:spPr>
          <a:xfrm>
            <a:off x="640080" y="3730752"/>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3977639"/>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977639"/>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ثالثاً</a:t>
            </a:r>
          </a:p>
        </p:txBody>
      </p:sp>
      <p:sp>
        <p:nvSpPr>
          <p:cNvPr id="30" name="TextBox 29"/>
          <p:cNvSpPr txBox="1"/>
          <p:nvPr/>
        </p:nvSpPr>
        <p:spPr>
          <a:xfrm>
            <a:off x="1755648" y="3840480"/>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دور لجنة المراجعة في الإشراف والحوكمة وتفعيل المساءلة</a:t>
            </a:r>
          </a:p>
        </p:txBody>
      </p:sp>
      <p:sp>
        <p:nvSpPr>
          <p:cNvPr id="31" name="Rectangle 30"/>
          <p:cNvSpPr/>
          <p:nvPr/>
        </p:nvSpPr>
        <p:spPr>
          <a:xfrm>
            <a:off x="640080" y="4645152"/>
            <a:ext cx="7863840" cy="950976"/>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681728"/>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8" y="4928616"/>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928616"/>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رابعاً</a:t>
            </a:r>
          </a:p>
        </p:txBody>
      </p:sp>
      <p:sp>
        <p:nvSpPr>
          <p:cNvPr id="35" name="TextBox 34"/>
          <p:cNvSpPr txBox="1"/>
          <p:nvPr/>
        </p:nvSpPr>
        <p:spPr>
          <a:xfrm>
            <a:off x="1755648" y="4791456"/>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معالجة الازدواجية في الجهود وتعظيم القيمة المضافة المشتركة</a:t>
            </a:r>
          </a:p>
        </p:txBody>
      </p:sp>
      <p:sp>
        <p:nvSpPr>
          <p:cNvPr id="36" name="Rectangle 35"/>
          <p:cNvSpPr/>
          <p:nvPr/>
        </p:nvSpPr>
        <p:spPr>
          <a:xfrm>
            <a:off x="640080" y="5632704"/>
            <a:ext cx="45720"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8" y="5879592"/>
            <a:ext cx="932688" cy="32918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879592"/>
            <a:ext cx="932688" cy="329184"/>
          </a:xfrm>
          <a:prstGeom prst="rect">
            <a:avLst/>
          </a:prstGeom>
          <a:noFill/>
        </p:spPr>
        <p:txBody>
          <a:bodyPr wrap="square">
            <a:spAutoFit/>
          </a:bodyPr>
          <a:lstStyle/>
          <a:p>
            <a:pPr algn="ctr"/>
            <a:r>
              <a:rPr sz="1100" b="1" i="0">
                <a:solidFill>
                  <a:srgbClr val="FFFFFF"/>
                </a:solidFill>
                <a:latin typeface="Traditional Arabic"/>
                <a:cs typeface="Traditional Arabic"/>
              </a:rPr>
              <a:t>خامساً</a:t>
            </a:r>
          </a:p>
        </p:txBody>
      </p:sp>
      <p:sp>
        <p:nvSpPr>
          <p:cNvPr id="39" name="TextBox 38"/>
          <p:cNvSpPr txBox="1"/>
          <p:nvPr/>
        </p:nvSpPr>
        <p:spPr>
          <a:xfrm>
            <a:off x="1755648" y="5742432"/>
            <a:ext cx="6583680" cy="713232"/>
          </a:xfrm>
          <a:prstGeom prst="rect">
            <a:avLst/>
          </a:prstGeom>
          <a:noFill/>
        </p:spPr>
        <p:txBody>
          <a:bodyPr wrap="square">
            <a:spAutoFit/>
          </a:bodyPr>
          <a:lstStyle/>
          <a:p>
            <a:pPr algn="r" a:rtl="1"/>
            <a:r>
              <a:rPr sz="1200" b="0" i="0">
                <a:solidFill>
                  <a:srgbClr val="0D1A33"/>
                </a:solidFill>
                <a:latin typeface="Traditional Arabic"/>
                <a:cs typeface="Traditional Arabic"/>
              </a:rPr>
              <a:t>نماذج تطبيقية ناجحة في تعزيز التنسيق والعمل المشترك</a:t>
            </a:r>
          </a:p>
        </p:txBody>
      </p:sp>
      <p:sp>
        <p:nvSpPr>
          <p:cNvPr id="40" name="Rectangle 39"/>
          <p:cNvSpPr/>
          <p:nvPr/>
        </p:nvSpPr>
        <p:spPr>
          <a:xfrm>
            <a:off x="8641080" y="1353312"/>
            <a:ext cx="3410712" cy="5321808"/>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1353312"/>
            <a:ext cx="341071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1426464"/>
            <a:ext cx="3410712" cy="402336"/>
          </a:xfrm>
          <a:prstGeom prst="rect">
            <a:avLst/>
          </a:prstGeom>
          <a:noFill/>
        </p:spPr>
        <p:txBody>
          <a:bodyPr wrap="square">
            <a:spAutoFit/>
          </a:bodyPr>
          <a:lstStyle/>
          <a:p>
            <a:pPr algn="ctr"/>
            <a:r>
              <a:rPr sz="1300" b="1" i="0">
                <a:solidFill>
                  <a:srgbClr val="FFFFFF"/>
                </a:solidFill>
                <a:latin typeface="Traditional Arabic"/>
                <a:cs typeface="Traditional Arabic"/>
              </a:rPr>
              <a:t>فريق الجلسة</a:t>
            </a:r>
          </a:p>
        </p:txBody>
      </p:sp>
      <p:sp>
        <p:nvSpPr>
          <p:cNvPr id="43" name="Rectangle 42"/>
          <p:cNvSpPr/>
          <p:nvPr/>
        </p:nvSpPr>
        <p:spPr>
          <a:xfrm>
            <a:off x="8732520" y="1920240"/>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1920240"/>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مدير الحوار</a:t>
            </a:r>
          </a:p>
        </p:txBody>
      </p:sp>
      <p:sp>
        <p:nvSpPr>
          <p:cNvPr id="45" name="TextBox 44"/>
          <p:cNvSpPr txBox="1"/>
          <p:nvPr/>
        </p:nvSpPr>
        <p:spPr>
          <a:xfrm>
            <a:off x="8732520" y="2231136"/>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أ. [اسم مدير الحوار]
مكتب العوفي والحربي</a:t>
            </a:r>
          </a:p>
        </p:txBody>
      </p:sp>
      <p:sp>
        <p:nvSpPr>
          <p:cNvPr id="46" name="Rectangle 45"/>
          <p:cNvSpPr/>
          <p:nvPr/>
        </p:nvSpPr>
        <p:spPr>
          <a:xfrm>
            <a:off x="8732520" y="3054096"/>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32520" y="3054096"/>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راعي الجلسة</a:t>
            </a:r>
          </a:p>
        </p:txBody>
      </p:sp>
      <p:sp>
        <p:nvSpPr>
          <p:cNvPr id="48" name="TextBox 47"/>
          <p:cNvSpPr txBox="1"/>
          <p:nvPr/>
        </p:nvSpPr>
        <p:spPr>
          <a:xfrm>
            <a:off x="8732520" y="3364992"/>
            <a:ext cx="3227832" cy="438912"/>
          </a:xfrm>
          <a:prstGeom prst="rect">
            <a:avLst/>
          </a:prstGeom>
          <a:noFill/>
        </p:spPr>
        <p:txBody>
          <a:bodyPr wrap="square">
            <a:spAutoFit/>
          </a:bodyPr>
          <a:lstStyle/>
          <a:p>
            <a:pPr algn="ctr"/>
            <a:r>
              <a:rPr sz="1100" b="0" i="0">
                <a:solidFill>
                  <a:srgbClr val="E8ECF4"/>
                </a:solidFill>
                <a:latin typeface="Traditional Arabic"/>
                <a:cs typeface="Traditional Arabic"/>
              </a:rPr>
              <a:t>[اسم الجهة الراعية]</a:t>
            </a:r>
          </a:p>
        </p:txBody>
      </p:sp>
      <p:sp>
        <p:nvSpPr>
          <p:cNvPr id="49" name="TextBox 48"/>
          <p:cNvSpPr txBox="1"/>
          <p:nvPr/>
        </p:nvSpPr>
        <p:spPr>
          <a:xfrm>
            <a:off x="8732520" y="3840480"/>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رسوم الرعاية: 10,000 ريال</a:t>
            </a:r>
          </a:p>
        </p:txBody>
      </p:sp>
      <p:sp>
        <p:nvSpPr>
          <p:cNvPr id="50" name="Rectangle 49"/>
          <p:cNvSpPr/>
          <p:nvPr/>
        </p:nvSpPr>
        <p:spPr>
          <a:xfrm>
            <a:off x="8732520" y="4261104"/>
            <a:ext cx="3227832" cy="292608"/>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32520" y="4261104"/>
            <a:ext cx="3227832" cy="292608"/>
          </a:xfrm>
          <a:prstGeom prst="rect">
            <a:avLst/>
          </a:prstGeom>
          <a:noFill/>
        </p:spPr>
        <p:txBody>
          <a:bodyPr wrap="square">
            <a:spAutoFit/>
          </a:bodyPr>
          <a:lstStyle/>
          <a:p>
            <a:pPr algn="ctr"/>
            <a:r>
              <a:rPr sz="1100" b="1" i="0">
                <a:solidFill>
                  <a:srgbClr val="FFFFFF"/>
                </a:solidFill>
                <a:latin typeface="Traditional Arabic"/>
                <a:cs typeface="Traditional Arabic"/>
              </a:rPr>
              <a:t>المتحدثون المستقلون</a:t>
            </a:r>
          </a:p>
        </p:txBody>
      </p:sp>
      <p:sp>
        <p:nvSpPr>
          <p:cNvPr id="52" name="TextBox 51"/>
          <p:cNvSpPr txBox="1"/>
          <p:nvPr/>
        </p:nvSpPr>
        <p:spPr>
          <a:xfrm>
            <a:off x="8732520" y="4572000"/>
            <a:ext cx="3227832" cy="658368"/>
          </a:xfrm>
          <a:prstGeom prst="rect">
            <a:avLst/>
          </a:prstGeom>
          <a:noFill/>
        </p:spPr>
        <p:txBody>
          <a:bodyPr wrap="square">
            <a:spAutoFit/>
          </a:bodyPr>
          <a:lstStyle/>
          <a:p>
            <a:pPr algn="ctr"/>
            <a:r>
              <a:rPr sz="1100" b="0" i="0">
                <a:solidFill>
                  <a:srgbClr val="E8ECF4"/>
                </a:solidFill>
                <a:latin typeface="Traditional Arabic"/>
                <a:cs typeface="Traditional Arabic"/>
              </a:rPr>
              <a:t>م. [المتحدث الأول]
م. [المتحدث الثاني]</a:t>
            </a:r>
          </a:p>
        </p:txBody>
      </p:sp>
      <p:sp>
        <p:nvSpPr>
          <p:cNvPr id="53" name="TextBox 52"/>
          <p:cNvSpPr txBox="1"/>
          <p:nvPr/>
        </p:nvSpPr>
        <p:spPr>
          <a:xfrm>
            <a:off x="8732520" y="5266944"/>
            <a:ext cx="3227832" cy="274320"/>
          </a:xfrm>
          <a:prstGeom prst="rect">
            <a:avLst/>
          </a:prstGeom>
          <a:noFill/>
        </p:spPr>
        <p:txBody>
          <a:bodyPr wrap="square">
            <a:spAutoFit/>
          </a:bodyPr>
          <a:lstStyle/>
          <a:p>
            <a:pPr algn="ctr"/>
            <a:r>
              <a:rPr sz="1000" b="0" i="0">
                <a:solidFill>
                  <a:srgbClr val="1A52A8"/>
                </a:solidFill>
                <a:latin typeface="Traditional Arabic"/>
                <a:cs typeface="Traditional Arabic"/>
              </a:rPr>
              <a:t>4,000 ريال / متحدث</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20040"/>
            <a:ext cx="54864"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058400" cy="868680"/>
          </a:xfrm>
          <a:prstGeom prst="rect">
            <a:avLst/>
          </a:prstGeom>
          <a:noFill/>
        </p:spPr>
        <p:txBody>
          <a:bodyPr wrap="square">
            <a:spAutoFit/>
          </a:bodyPr>
          <a:lstStyle/>
          <a:p>
            <a:pPr algn="l" a:rtl="1"/>
            <a:r>
              <a:rPr sz="3000" b="1" i="0">
                <a:solidFill>
                  <a:srgbClr val="FFFFFF"/>
                </a:solidFill>
                <a:latin typeface="Traditional Arabic"/>
                <a:cs typeface="Traditional Arabic"/>
              </a:rPr>
              <a:t>التكاليف التقديرية</a:t>
            </a: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Rectangle 7"/>
          <p:cNvSpPr/>
          <p:nvPr/>
        </p:nvSpPr>
        <p:spPr>
          <a:xfrm>
            <a:off x="365760" y="1325880"/>
            <a:ext cx="11457432" cy="438912"/>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25880"/>
            <a:ext cx="4572000" cy="438912"/>
          </a:xfrm>
          <a:prstGeom prst="rect">
            <a:avLst/>
          </a:prstGeom>
          <a:noFill/>
        </p:spPr>
        <p:txBody>
          <a:bodyPr wrap="square">
            <a:spAutoFit/>
          </a:bodyPr>
          <a:lstStyle/>
          <a:p>
            <a:pPr algn="l"/>
            <a:r>
              <a:rPr sz="1300" b="1" i="0">
                <a:solidFill>
                  <a:srgbClr val="FFFFFF"/>
                </a:solidFill>
                <a:latin typeface="Traditional Arabic"/>
                <a:cs typeface="Traditional Arabic"/>
              </a:rPr>
              <a:t>البند</a:t>
            </a:r>
          </a:p>
        </p:txBody>
      </p:sp>
      <p:sp>
        <p:nvSpPr>
          <p:cNvPr id="10" name="TextBox 9"/>
          <p:cNvSpPr txBox="1"/>
          <p:nvPr/>
        </p:nvSpPr>
        <p:spPr>
          <a:xfrm>
            <a:off x="9418320" y="1325880"/>
            <a:ext cx="4572000" cy="438912"/>
          </a:xfrm>
          <a:prstGeom prst="rect">
            <a:avLst/>
          </a:prstGeom>
          <a:noFill/>
        </p:spPr>
        <p:txBody>
          <a:bodyPr wrap="square">
            <a:spAutoFit/>
          </a:bodyPr>
          <a:lstStyle/>
          <a:p>
            <a:pPr algn="l"/>
            <a:r>
              <a:rPr sz="1300" b="1" i="0">
                <a:solidFill>
                  <a:srgbClr val="FFFFFF"/>
                </a:solidFill>
                <a:latin typeface="Traditional Arabic"/>
                <a:cs typeface="Traditional Arabic"/>
              </a:rPr>
              <a:t>المبلغ (ريال)</a:t>
            </a:r>
          </a:p>
        </p:txBody>
      </p:sp>
      <p:sp>
        <p:nvSpPr>
          <p:cNvPr id="11" name="TextBox 10"/>
          <p:cNvSpPr txBox="1"/>
          <p:nvPr/>
        </p:nvSpPr>
        <p:spPr>
          <a:xfrm>
            <a:off x="10835640" y="1325880"/>
            <a:ext cx="4572000" cy="438912"/>
          </a:xfrm>
          <a:prstGeom prst="rect">
            <a:avLst/>
          </a:prstGeom>
          <a:noFill/>
        </p:spPr>
        <p:txBody>
          <a:bodyPr wrap="square">
            <a:spAutoFit/>
          </a:bodyPr>
          <a:lstStyle/>
          <a:p>
            <a:pPr algn="l"/>
            <a:r>
              <a:rPr sz="1300" b="1" i="0">
                <a:solidFill>
                  <a:srgbClr val="FFFFFF"/>
                </a:solidFill>
                <a:latin typeface="Traditional Arabic"/>
                <a:cs typeface="Traditional Arabic"/>
              </a:rPr>
              <a:t>النوع</a:t>
            </a:r>
          </a:p>
        </p:txBody>
      </p:sp>
      <p:sp>
        <p:nvSpPr>
          <p:cNvPr id="12" name="Rectangle 11"/>
          <p:cNvSpPr/>
          <p:nvPr/>
        </p:nvSpPr>
        <p:spPr>
          <a:xfrm>
            <a:off x="365760" y="1856231"/>
            <a:ext cx="11457432" cy="9144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856231"/>
            <a:ext cx="54864"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084831"/>
            <a:ext cx="8686800" cy="502920"/>
          </a:xfrm>
          <a:prstGeom prst="rect">
            <a:avLst/>
          </a:prstGeom>
          <a:noFill/>
        </p:spPr>
        <p:txBody>
          <a:bodyPr wrap="square">
            <a:spAutoFit/>
          </a:bodyPr>
          <a:lstStyle/>
          <a:p>
            <a:pPr algn="l"/>
            <a:r>
              <a:rPr sz="1300" b="0" i="0">
                <a:solidFill>
                  <a:srgbClr val="0D1A33"/>
                </a:solidFill>
                <a:latin typeface="Traditional Arabic"/>
                <a:cs typeface="Traditional Arabic"/>
              </a:rPr>
              <a:t>رخصة تصريح إقامة الفعالية</a:t>
            </a:r>
          </a:p>
        </p:txBody>
      </p:sp>
      <p:sp>
        <p:nvSpPr>
          <p:cNvPr id="15" name="TextBox 14"/>
          <p:cNvSpPr txBox="1"/>
          <p:nvPr/>
        </p:nvSpPr>
        <p:spPr>
          <a:xfrm>
            <a:off x="9418320" y="2084831"/>
            <a:ext cx="1371600" cy="502920"/>
          </a:xfrm>
          <a:prstGeom prst="rect">
            <a:avLst/>
          </a:prstGeom>
          <a:noFill/>
        </p:spPr>
        <p:txBody>
          <a:bodyPr wrap="square">
            <a:spAutoFit/>
          </a:bodyPr>
          <a:lstStyle/>
          <a:p>
            <a:pPr algn="l"/>
            <a:r>
              <a:rPr sz="1400" b="1" i="0">
                <a:solidFill>
                  <a:srgbClr val="003087"/>
                </a:solidFill>
                <a:latin typeface="Traditional Arabic"/>
                <a:cs typeface="Traditional Arabic"/>
              </a:rPr>
              <a:t>5,000 ريال</a:t>
            </a:r>
          </a:p>
        </p:txBody>
      </p:sp>
      <p:sp>
        <p:nvSpPr>
          <p:cNvPr id="16" name="Rectangle 15"/>
          <p:cNvSpPr/>
          <p:nvPr/>
        </p:nvSpPr>
        <p:spPr>
          <a:xfrm>
            <a:off x="10817352" y="2112263"/>
            <a:ext cx="7772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17352" y="2112263"/>
            <a:ext cx="777240" cy="347472"/>
          </a:xfrm>
          <a:prstGeom prst="rect">
            <a:avLst/>
          </a:prstGeom>
          <a:noFill/>
        </p:spPr>
        <p:txBody>
          <a:bodyPr wrap="square">
            <a:spAutoFit/>
          </a:bodyPr>
          <a:lstStyle/>
          <a:p>
            <a:pPr algn="ctr"/>
            <a:r>
              <a:rPr sz="1100" b="1" i="0">
                <a:solidFill>
                  <a:srgbClr val="FFFFFF"/>
                </a:solidFill>
                <a:latin typeface="Traditional Arabic"/>
                <a:cs typeface="Traditional Arabic"/>
              </a:rPr>
              <a:t>ثابت</a:t>
            </a:r>
          </a:p>
        </p:txBody>
      </p:sp>
      <p:sp>
        <p:nvSpPr>
          <p:cNvPr id="18" name="Rectangle 17"/>
          <p:cNvSpPr/>
          <p:nvPr/>
        </p:nvSpPr>
        <p:spPr>
          <a:xfrm>
            <a:off x="365760" y="2880360"/>
            <a:ext cx="1145743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880360"/>
            <a:ext cx="54864"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08960"/>
            <a:ext cx="8686800" cy="502920"/>
          </a:xfrm>
          <a:prstGeom prst="rect">
            <a:avLst/>
          </a:prstGeom>
          <a:noFill/>
        </p:spPr>
        <p:txBody>
          <a:bodyPr wrap="square">
            <a:spAutoFit/>
          </a:bodyPr>
          <a:lstStyle/>
          <a:p>
            <a:pPr algn="l"/>
            <a:r>
              <a:rPr sz="1300" b="0" i="0">
                <a:solidFill>
                  <a:srgbClr val="0D1A33"/>
                </a:solidFill>
                <a:latin typeface="Traditional Arabic"/>
                <a:cs typeface="Traditional Arabic"/>
              </a:rPr>
              <a:t>تكاليف مكتب الفعاليات</a:t>
            </a:r>
          </a:p>
        </p:txBody>
      </p:sp>
      <p:sp>
        <p:nvSpPr>
          <p:cNvPr id="21" name="TextBox 20"/>
          <p:cNvSpPr txBox="1"/>
          <p:nvPr/>
        </p:nvSpPr>
        <p:spPr>
          <a:xfrm>
            <a:off x="9418320" y="3108960"/>
            <a:ext cx="1371600" cy="502920"/>
          </a:xfrm>
          <a:prstGeom prst="rect">
            <a:avLst/>
          </a:prstGeom>
          <a:noFill/>
        </p:spPr>
        <p:txBody>
          <a:bodyPr wrap="square">
            <a:spAutoFit/>
          </a:bodyPr>
          <a:lstStyle/>
          <a:p>
            <a:pPr algn="l"/>
            <a:r>
              <a:rPr sz="1400" b="1" i="0">
                <a:solidFill>
                  <a:srgbClr val="003087"/>
                </a:solidFill>
                <a:latin typeface="Traditional Arabic"/>
                <a:cs typeface="Traditional Arabic"/>
              </a:rPr>
              <a:t>8,000 ريال</a:t>
            </a:r>
          </a:p>
        </p:txBody>
      </p:sp>
      <p:sp>
        <p:nvSpPr>
          <p:cNvPr id="22" name="Rectangle 21"/>
          <p:cNvSpPr/>
          <p:nvPr/>
        </p:nvSpPr>
        <p:spPr>
          <a:xfrm>
            <a:off x="10817352" y="3136391"/>
            <a:ext cx="7772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17352" y="3136391"/>
            <a:ext cx="777240" cy="347472"/>
          </a:xfrm>
          <a:prstGeom prst="rect">
            <a:avLst/>
          </a:prstGeom>
          <a:noFill/>
        </p:spPr>
        <p:txBody>
          <a:bodyPr wrap="square">
            <a:spAutoFit/>
          </a:bodyPr>
          <a:lstStyle/>
          <a:p>
            <a:pPr algn="ctr"/>
            <a:r>
              <a:rPr sz="1100" b="1" i="0">
                <a:solidFill>
                  <a:srgbClr val="FFFFFF"/>
                </a:solidFill>
                <a:latin typeface="Traditional Arabic"/>
                <a:cs typeface="Traditional Arabic"/>
              </a:rPr>
              <a:t>ثابت</a:t>
            </a:r>
          </a:p>
        </p:txBody>
      </p:sp>
      <p:sp>
        <p:nvSpPr>
          <p:cNvPr id="24" name="Rectangle 23"/>
          <p:cNvSpPr/>
          <p:nvPr/>
        </p:nvSpPr>
        <p:spPr>
          <a:xfrm>
            <a:off x="365760" y="3904487"/>
            <a:ext cx="11457432" cy="9144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904487"/>
            <a:ext cx="54864"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33087"/>
            <a:ext cx="8686800" cy="502920"/>
          </a:xfrm>
          <a:prstGeom prst="rect">
            <a:avLst/>
          </a:prstGeom>
          <a:noFill/>
        </p:spPr>
        <p:txBody>
          <a:bodyPr wrap="square">
            <a:spAutoFit/>
          </a:bodyPr>
          <a:lstStyle/>
          <a:p>
            <a:pPr algn="l"/>
            <a:r>
              <a:rPr sz="1300" b="0" i="0">
                <a:solidFill>
                  <a:srgbClr val="0D1A33"/>
                </a:solidFill>
                <a:latin typeface="Traditional Arabic"/>
                <a:cs typeface="Traditional Arabic"/>
              </a:rPr>
              <a:t>استضافة – الحد الأدنى  (70×280×2)</a:t>
            </a:r>
          </a:p>
        </p:txBody>
      </p:sp>
      <p:sp>
        <p:nvSpPr>
          <p:cNvPr id="27" name="TextBox 26"/>
          <p:cNvSpPr txBox="1"/>
          <p:nvPr/>
        </p:nvSpPr>
        <p:spPr>
          <a:xfrm>
            <a:off x="9418320" y="4133087"/>
            <a:ext cx="1371600" cy="502920"/>
          </a:xfrm>
          <a:prstGeom prst="rect">
            <a:avLst/>
          </a:prstGeom>
          <a:noFill/>
        </p:spPr>
        <p:txBody>
          <a:bodyPr wrap="square">
            <a:spAutoFit/>
          </a:bodyPr>
          <a:lstStyle/>
          <a:p>
            <a:pPr algn="l"/>
            <a:r>
              <a:rPr sz="1400" b="1" i="0">
                <a:solidFill>
                  <a:srgbClr val="003087"/>
                </a:solidFill>
                <a:latin typeface="Traditional Arabic"/>
                <a:cs typeface="Traditional Arabic"/>
              </a:rPr>
              <a:t>39,200 ريال</a:t>
            </a:r>
          </a:p>
        </p:txBody>
      </p:sp>
      <p:sp>
        <p:nvSpPr>
          <p:cNvPr id="28" name="Rectangle 27"/>
          <p:cNvSpPr/>
          <p:nvPr/>
        </p:nvSpPr>
        <p:spPr>
          <a:xfrm>
            <a:off x="10817352" y="4160520"/>
            <a:ext cx="7772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17352" y="4160520"/>
            <a:ext cx="777240" cy="347472"/>
          </a:xfrm>
          <a:prstGeom prst="rect">
            <a:avLst/>
          </a:prstGeom>
          <a:noFill/>
        </p:spPr>
        <p:txBody>
          <a:bodyPr wrap="square">
            <a:spAutoFit/>
          </a:bodyPr>
          <a:lstStyle/>
          <a:p>
            <a:pPr algn="ctr"/>
            <a:r>
              <a:rPr sz="1100" b="1" i="0">
                <a:solidFill>
                  <a:srgbClr val="FFFFFF"/>
                </a:solidFill>
                <a:latin typeface="Traditional Arabic"/>
                <a:cs typeface="Traditional Arabic"/>
              </a:rPr>
              <a:t>متغير</a:t>
            </a:r>
          </a:p>
        </p:txBody>
      </p:sp>
      <p:sp>
        <p:nvSpPr>
          <p:cNvPr id="30" name="Rectangle 29"/>
          <p:cNvSpPr/>
          <p:nvPr/>
        </p:nvSpPr>
        <p:spPr>
          <a:xfrm>
            <a:off x="365760" y="4928616"/>
            <a:ext cx="1145743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4928616"/>
            <a:ext cx="54864" cy="9144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57216"/>
            <a:ext cx="8686800" cy="502920"/>
          </a:xfrm>
          <a:prstGeom prst="rect">
            <a:avLst/>
          </a:prstGeom>
          <a:noFill/>
        </p:spPr>
        <p:txBody>
          <a:bodyPr wrap="square">
            <a:spAutoFit/>
          </a:bodyPr>
          <a:lstStyle/>
          <a:p>
            <a:pPr algn="l"/>
            <a:r>
              <a:rPr sz="1300" b="0" i="0">
                <a:solidFill>
                  <a:srgbClr val="0D1A33"/>
                </a:solidFill>
                <a:latin typeface="Traditional Arabic"/>
                <a:cs typeface="Traditional Arabic"/>
              </a:rPr>
              <a:t>استضافة – الحد الأعلى  (100×350×2)</a:t>
            </a:r>
          </a:p>
        </p:txBody>
      </p:sp>
      <p:sp>
        <p:nvSpPr>
          <p:cNvPr id="33" name="TextBox 32"/>
          <p:cNvSpPr txBox="1"/>
          <p:nvPr/>
        </p:nvSpPr>
        <p:spPr>
          <a:xfrm>
            <a:off x="9418320" y="5157216"/>
            <a:ext cx="1371600" cy="502920"/>
          </a:xfrm>
          <a:prstGeom prst="rect">
            <a:avLst/>
          </a:prstGeom>
          <a:noFill/>
        </p:spPr>
        <p:txBody>
          <a:bodyPr wrap="square">
            <a:spAutoFit/>
          </a:bodyPr>
          <a:lstStyle/>
          <a:p>
            <a:pPr algn="l"/>
            <a:r>
              <a:rPr sz="1400" b="1" i="0">
                <a:solidFill>
                  <a:srgbClr val="003087"/>
                </a:solidFill>
                <a:latin typeface="Traditional Arabic"/>
                <a:cs typeface="Traditional Arabic"/>
              </a:rPr>
              <a:t>70,000 ريال</a:t>
            </a:r>
          </a:p>
        </p:txBody>
      </p:sp>
      <p:sp>
        <p:nvSpPr>
          <p:cNvPr id="34" name="Rectangle 33"/>
          <p:cNvSpPr/>
          <p:nvPr/>
        </p:nvSpPr>
        <p:spPr>
          <a:xfrm>
            <a:off x="10817352" y="5184648"/>
            <a:ext cx="7772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17352" y="5184648"/>
            <a:ext cx="777240" cy="347472"/>
          </a:xfrm>
          <a:prstGeom prst="rect">
            <a:avLst/>
          </a:prstGeom>
          <a:noFill/>
        </p:spPr>
        <p:txBody>
          <a:bodyPr wrap="square">
            <a:spAutoFit/>
          </a:bodyPr>
          <a:lstStyle/>
          <a:p>
            <a:pPr algn="ctr"/>
            <a:r>
              <a:rPr sz="1100" b="1" i="0">
                <a:solidFill>
                  <a:srgbClr val="FFFFFF"/>
                </a:solidFill>
                <a:latin typeface="Traditional Arabic"/>
                <a:cs typeface="Traditional Arabic"/>
              </a:rPr>
              <a:t>متغير</a:t>
            </a:r>
          </a:p>
        </p:txBody>
      </p:sp>
      <p:sp>
        <p:nvSpPr>
          <p:cNvPr id="36" name="Rectangle 35"/>
          <p:cNvSpPr/>
          <p:nvPr/>
        </p:nvSpPr>
        <p:spPr>
          <a:xfrm>
            <a:off x="365760" y="5989320"/>
            <a:ext cx="11457432" cy="5029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989320"/>
            <a:ext cx="8229600" cy="502920"/>
          </a:xfrm>
          <a:prstGeom prst="rect">
            <a:avLst/>
          </a:prstGeom>
          <a:noFill/>
        </p:spPr>
        <p:txBody>
          <a:bodyPr wrap="square">
            <a:spAutoFit/>
          </a:bodyPr>
          <a:lstStyle/>
          <a:p>
            <a:pPr algn="l"/>
            <a:r>
              <a:rPr sz="1500" b="1" i="0">
                <a:solidFill>
                  <a:srgbClr val="FFFFFF"/>
                </a:solidFill>
                <a:latin typeface="Traditional Arabic"/>
                <a:cs typeface="Traditional Arabic"/>
              </a:rPr>
              <a:t>إجمالي التكاليف المتوقعة</a:t>
            </a:r>
          </a:p>
        </p:txBody>
      </p:sp>
      <p:sp>
        <p:nvSpPr>
          <p:cNvPr id="38" name="TextBox 37"/>
          <p:cNvSpPr txBox="1"/>
          <p:nvPr/>
        </p:nvSpPr>
        <p:spPr>
          <a:xfrm>
            <a:off x="8961120" y="5989320"/>
            <a:ext cx="2743200" cy="502920"/>
          </a:xfrm>
          <a:prstGeom prst="rect">
            <a:avLst/>
          </a:prstGeom>
          <a:noFill/>
        </p:spPr>
        <p:txBody>
          <a:bodyPr wrap="square">
            <a:spAutoFit/>
          </a:bodyPr>
          <a:lstStyle/>
          <a:p>
            <a:pPr algn="l"/>
            <a:r>
              <a:rPr sz="1500" b="1" i="0">
                <a:solidFill>
                  <a:srgbClr val="E8ECF4"/>
                </a:solidFill>
                <a:latin typeface="Traditional Arabic"/>
                <a:cs typeface="Traditional Arabic"/>
              </a:rPr>
              <a:t>52,200  –  83,000 ريال</a:t>
            </a:r>
          </a:p>
        </p:txBody>
      </p:sp>
      <p:sp>
        <p:nvSpPr>
          <p:cNvPr id="39" name="TextBox 38"/>
          <p:cNvSpPr txBox="1"/>
          <p:nvPr/>
        </p:nvSpPr>
        <p:spPr>
          <a:xfrm>
            <a:off x="411480" y="6565392"/>
            <a:ext cx="10972800" cy="256032"/>
          </a:xfrm>
          <a:prstGeom prst="rect">
            <a:avLst/>
          </a:prstGeom>
          <a:noFill/>
        </p:spPr>
        <p:txBody>
          <a:bodyPr wrap="square">
            <a:spAutoFit/>
          </a:bodyPr>
          <a:lstStyle/>
          <a:p>
            <a:pPr algn="l"/>
            <a:r>
              <a:rPr sz="1000" b="0" i="0">
                <a:solidFill>
                  <a:srgbClr val="8A94AE"/>
                </a:solidFill>
                <a:latin typeface="Traditional Arabic"/>
                <a:cs typeface="Traditional Arabic"/>
              </a:rPr>
              <a:t>* التكاليف المتغيرة مبنية على توقع حضور 70–100 شخص/يوم × يومين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20040"/>
            <a:ext cx="54864"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058400" cy="868680"/>
          </a:xfrm>
          <a:prstGeom prst="rect">
            <a:avLst/>
          </a:prstGeom>
          <a:noFill/>
        </p:spPr>
        <p:txBody>
          <a:bodyPr wrap="square">
            <a:spAutoFit/>
          </a:bodyPr>
          <a:lstStyle/>
          <a:p>
            <a:pPr algn="l" a:rtl="1"/>
            <a:r>
              <a:rPr sz="3000" b="1" i="0">
                <a:solidFill>
                  <a:srgbClr val="FFFFFF"/>
                </a:solidFill>
                <a:latin typeface="Traditional Arabic"/>
                <a:cs typeface="Traditional Arabic"/>
              </a:rPr>
              <a:t>الإيرادات المتوقعة</a:t>
            </a: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01968"/>
            <a:ext cx="11457432" cy="237744"/>
          </a:xfrm>
          <a:prstGeom prst="rect">
            <a:avLst/>
          </a:prstGeom>
          <a:noFill/>
        </p:spPr>
        <p:txBody>
          <a:bodyPr wrap="square">
            <a:spAutoFit/>
          </a:bodyPr>
          <a:lstStyle/>
          <a:p>
            <a:pPr algn="ctr"/>
            <a:r>
              <a:rPr sz="1100" b="0" i="0">
                <a:solidFill>
                  <a:srgbClr val="FFFFFF"/>
                </a:solidFill>
                <a:latin typeface="Traditional Arabic"/>
                <a:cs typeface="Traditional Arabic"/>
              </a:rPr>
              <a:t>شركة العوفي والحربي   |   www.cla.sa</a:t>
            </a:r>
          </a:p>
        </p:txBody>
      </p:sp>
      <p:sp>
        <p:nvSpPr>
          <p:cNvPr id="8" name="Rectangle 7"/>
          <p:cNvSpPr/>
          <p:nvPr/>
        </p:nvSpPr>
        <p:spPr>
          <a:xfrm>
            <a:off x="365760" y="1371600"/>
            <a:ext cx="11457432" cy="1572768"/>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64008" cy="157276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8229600" cy="548640"/>
          </a:xfrm>
          <a:prstGeom prst="rect">
            <a:avLst/>
          </a:prstGeom>
          <a:noFill/>
        </p:spPr>
        <p:txBody>
          <a:bodyPr wrap="square">
            <a:spAutoFit/>
          </a:bodyPr>
          <a:lstStyle/>
          <a:p>
            <a:pPr algn="l"/>
            <a:r>
              <a:rPr sz="1900" b="1" i="0">
                <a:solidFill>
                  <a:srgbClr val="001A55"/>
                </a:solidFill>
                <a:latin typeface="Traditional Arabic"/>
                <a:cs typeface="Traditional Arabic"/>
              </a:rPr>
              <a:t>رعاة الجلسات الحوارية</a:t>
            </a:r>
          </a:p>
        </p:txBody>
      </p:sp>
      <p:sp>
        <p:nvSpPr>
          <p:cNvPr id="11" name="TextBox 10"/>
          <p:cNvSpPr txBox="1"/>
          <p:nvPr/>
        </p:nvSpPr>
        <p:spPr>
          <a:xfrm>
            <a:off x="594360" y="2103120"/>
            <a:ext cx="8229600" cy="411480"/>
          </a:xfrm>
          <a:prstGeom prst="rect">
            <a:avLst/>
          </a:prstGeom>
          <a:noFill/>
        </p:spPr>
        <p:txBody>
          <a:bodyPr wrap="square">
            <a:spAutoFit/>
          </a:bodyPr>
          <a:lstStyle/>
          <a:p>
            <a:pPr algn="l"/>
            <a:r>
              <a:rPr sz="1300" b="0" i="0">
                <a:solidFill>
                  <a:srgbClr val="8A94AE"/>
                </a:solidFill>
                <a:latin typeface="Traditional Arabic"/>
                <a:cs typeface="Traditional Arabic"/>
              </a:rPr>
              <a:t>10 جلسات × 10,000 ريال</a:t>
            </a:r>
          </a:p>
        </p:txBody>
      </p:sp>
      <p:sp>
        <p:nvSpPr>
          <p:cNvPr id="12" name="Rectangle 11"/>
          <p:cNvSpPr/>
          <p:nvPr/>
        </p:nvSpPr>
        <p:spPr>
          <a:xfrm>
            <a:off x="9235440" y="1755648"/>
            <a:ext cx="2468880" cy="6858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1755648"/>
            <a:ext cx="2468880" cy="685800"/>
          </a:xfrm>
          <a:prstGeom prst="rect">
            <a:avLst/>
          </a:prstGeom>
          <a:noFill/>
        </p:spPr>
        <p:txBody>
          <a:bodyPr wrap="square">
            <a:spAutoFit/>
          </a:bodyPr>
          <a:lstStyle/>
          <a:p>
            <a:pPr algn="ctr"/>
            <a:r>
              <a:rPr sz="1800" b="1" i="0">
                <a:solidFill>
                  <a:srgbClr val="FFFFFF"/>
                </a:solidFill>
                <a:latin typeface="Traditional Arabic"/>
                <a:cs typeface="Traditional Arabic"/>
              </a:rPr>
              <a:t>100,000 ريال</a:t>
            </a:r>
          </a:p>
        </p:txBody>
      </p:sp>
      <p:sp>
        <p:nvSpPr>
          <p:cNvPr id="14" name="Rectangle 13"/>
          <p:cNvSpPr/>
          <p:nvPr/>
        </p:nvSpPr>
        <p:spPr>
          <a:xfrm>
            <a:off x="365760" y="3108960"/>
            <a:ext cx="11457432"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108960"/>
            <a:ext cx="64008" cy="157276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246120"/>
            <a:ext cx="8229600" cy="548640"/>
          </a:xfrm>
          <a:prstGeom prst="rect">
            <a:avLst/>
          </a:prstGeom>
          <a:noFill/>
        </p:spPr>
        <p:txBody>
          <a:bodyPr wrap="square">
            <a:spAutoFit/>
          </a:bodyPr>
          <a:lstStyle/>
          <a:p>
            <a:pPr algn="l"/>
            <a:r>
              <a:rPr sz="1900" b="1" i="0">
                <a:solidFill>
                  <a:srgbClr val="001A55"/>
                </a:solidFill>
                <a:latin typeface="Traditional Arabic"/>
                <a:cs typeface="Traditional Arabic"/>
              </a:rPr>
              <a:t>المتحدثون المستقلون</a:t>
            </a:r>
          </a:p>
        </p:txBody>
      </p:sp>
      <p:sp>
        <p:nvSpPr>
          <p:cNvPr id="17" name="TextBox 16"/>
          <p:cNvSpPr txBox="1"/>
          <p:nvPr/>
        </p:nvSpPr>
        <p:spPr>
          <a:xfrm>
            <a:off x="594360" y="3840480"/>
            <a:ext cx="8229600" cy="411480"/>
          </a:xfrm>
          <a:prstGeom prst="rect">
            <a:avLst/>
          </a:prstGeom>
          <a:noFill/>
        </p:spPr>
        <p:txBody>
          <a:bodyPr wrap="square">
            <a:spAutoFit/>
          </a:bodyPr>
          <a:lstStyle/>
          <a:p>
            <a:pPr algn="l"/>
            <a:r>
              <a:rPr sz="1300" b="0" i="0">
                <a:solidFill>
                  <a:srgbClr val="8A94AE"/>
                </a:solidFill>
                <a:latin typeface="Traditional Arabic"/>
                <a:cs typeface="Traditional Arabic"/>
              </a:rPr>
              <a:t>10 جلسات × 2 متحدث × 4,000 ريال</a:t>
            </a:r>
          </a:p>
        </p:txBody>
      </p:sp>
      <p:sp>
        <p:nvSpPr>
          <p:cNvPr id="18" name="Rectangle 17"/>
          <p:cNvSpPr/>
          <p:nvPr/>
        </p:nvSpPr>
        <p:spPr>
          <a:xfrm>
            <a:off x="9235440" y="3493008"/>
            <a:ext cx="2468880" cy="6858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3493008"/>
            <a:ext cx="2468880" cy="685800"/>
          </a:xfrm>
          <a:prstGeom prst="rect">
            <a:avLst/>
          </a:prstGeom>
          <a:noFill/>
        </p:spPr>
        <p:txBody>
          <a:bodyPr wrap="square">
            <a:spAutoFit/>
          </a:bodyPr>
          <a:lstStyle/>
          <a:p>
            <a:pPr algn="ctr"/>
            <a:r>
              <a:rPr sz="1800" b="1" i="0">
                <a:solidFill>
                  <a:srgbClr val="FFFFFF"/>
                </a:solidFill>
                <a:latin typeface="Traditional Arabic"/>
                <a:cs typeface="Traditional Arabic"/>
              </a:rPr>
              <a:t>80,000 ريال</a:t>
            </a:r>
          </a:p>
        </p:txBody>
      </p:sp>
      <p:sp>
        <p:nvSpPr>
          <p:cNvPr id="20" name="Rectangle 19"/>
          <p:cNvSpPr/>
          <p:nvPr/>
        </p:nvSpPr>
        <p:spPr>
          <a:xfrm>
            <a:off x="365760" y="4983480"/>
            <a:ext cx="11457432" cy="621792"/>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983480"/>
            <a:ext cx="7772400" cy="621792"/>
          </a:xfrm>
          <a:prstGeom prst="rect">
            <a:avLst/>
          </a:prstGeom>
          <a:noFill/>
        </p:spPr>
        <p:txBody>
          <a:bodyPr wrap="square">
            <a:spAutoFit/>
          </a:bodyPr>
          <a:lstStyle/>
          <a:p>
            <a:pPr algn="l"/>
            <a:r>
              <a:rPr sz="1600" b="1" i="0">
                <a:solidFill>
                  <a:srgbClr val="FFFFFF"/>
                </a:solidFill>
                <a:latin typeface="Traditional Arabic"/>
                <a:cs typeface="Traditional Arabic"/>
              </a:rPr>
              <a:t>إجمالي الإيرادات المتوقعة</a:t>
            </a:r>
          </a:p>
        </p:txBody>
      </p:sp>
      <p:sp>
        <p:nvSpPr>
          <p:cNvPr id="22" name="TextBox 21"/>
          <p:cNvSpPr txBox="1"/>
          <p:nvPr/>
        </p:nvSpPr>
        <p:spPr>
          <a:xfrm>
            <a:off x="8961120" y="4983480"/>
            <a:ext cx="2743200" cy="621792"/>
          </a:xfrm>
          <a:prstGeom prst="rect">
            <a:avLst/>
          </a:prstGeom>
          <a:noFill/>
        </p:spPr>
        <p:txBody>
          <a:bodyPr wrap="square">
            <a:spAutoFit/>
          </a:bodyPr>
          <a:lstStyle/>
          <a:p>
            <a:pPr algn="l"/>
            <a:r>
              <a:rPr sz="1800" b="1" i="0">
                <a:solidFill>
                  <a:srgbClr val="E8ECF4"/>
                </a:solidFill>
                <a:latin typeface="Traditional Arabic"/>
                <a:cs typeface="Traditional Arabic"/>
              </a:rPr>
              <a:t>180,000 ريال</a:t>
            </a:r>
          </a:p>
        </p:txBody>
      </p:sp>
      <p:sp>
        <p:nvSpPr>
          <p:cNvPr id="23" name="Rectangle 22"/>
          <p:cNvSpPr/>
          <p:nvPr/>
        </p:nvSpPr>
        <p:spPr>
          <a:xfrm>
            <a:off x="365760" y="5742432"/>
            <a:ext cx="11457432" cy="6858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5742432"/>
            <a:ext cx="64008" cy="6858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742432"/>
            <a:ext cx="5486400" cy="685800"/>
          </a:xfrm>
          <a:prstGeom prst="rect">
            <a:avLst/>
          </a:prstGeom>
          <a:noFill/>
        </p:spPr>
        <p:txBody>
          <a:bodyPr wrap="square">
            <a:spAutoFit/>
          </a:bodyPr>
          <a:lstStyle/>
          <a:p>
            <a:pPr algn="l"/>
            <a:r>
              <a:rPr sz="1400" b="1" i="0">
                <a:solidFill>
                  <a:srgbClr val="001A55"/>
                </a:solidFill>
                <a:latin typeface="Traditional Arabic"/>
                <a:cs typeface="Traditional Arabic"/>
              </a:rPr>
              <a:t>صافي الفائض المتوقع</a:t>
            </a:r>
          </a:p>
        </p:txBody>
      </p:sp>
      <p:sp>
        <p:nvSpPr>
          <p:cNvPr id="26" name="TextBox 25"/>
          <p:cNvSpPr txBox="1"/>
          <p:nvPr/>
        </p:nvSpPr>
        <p:spPr>
          <a:xfrm>
            <a:off x="6492240" y="5742432"/>
            <a:ext cx="5029200" cy="685800"/>
          </a:xfrm>
          <a:prstGeom prst="rect">
            <a:avLst/>
          </a:prstGeom>
          <a:noFill/>
        </p:spPr>
        <p:txBody>
          <a:bodyPr wrap="square">
            <a:spAutoFit/>
          </a:bodyPr>
          <a:lstStyle/>
          <a:p>
            <a:pPr algn="l"/>
            <a:r>
              <a:rPr sz="1400" b="1" i="0">
                <a:solidFill>
                  <a:srgbClr val="003087"/>
                </a:solidFill>
                <a:latin typeface="Traditional Arabic"/>
                <a:cs typeface="Traditional Arabic"/>
              </a:rPr>
              <a:t>97,000  –  127,800 ريال</a:t>
            </a:r>
          </a:p>
        </p:txBody>
      </p:sp>
      <p:sp>
        <p:nvSpPr>
          <p:cNvPr id="27" name="TextBox 26"/>
          <p:cNvSpPr txBox="1"/>
          <p:nvPr/>
        </p:nvSpPr>
        <p:spPr>
          <a:xfrm>
            <a:off x="411480" y="6565392"/>
            <a:ext cx="10972800" cy="256032"/>
          </a:xfrm>
          <a:prstGeom prst="rect">
            <a:avLst/>
          </a:prstGeom>
          <a:noFill/>
        </p:spPr>
        <p:txBody>
          <a:bodyPr wrap="square">
            <a:spAutoFit/>
          </a:bodyPr>
          <a:lstStyle/>
          <a:p>
            <a:pPr algn="l"/>
            <a:r>
              <a:rPr sz="1000" b="0" i="0">
                <a:solidFill>
                  <a:srgbClr val="8A94AE"/>
                </a:solidFill>
                <a:latin typeface="Traditional Arabic"/>
                <a:cs typeface="Traditional Arabic"/>
              </a:rPr>
              <a:t>* الأرقام تقديرية وقابلة للتعديل وفقاً لشروط التفاوض مع الرعاة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0" y="0"/>
            <a:ext cx="560527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0" y="0"/>
            <a:ext cx="45720" cy="685800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03120"/>
            <a:ext cx="5852160" cy="777240"/>
          </a:xfrm>
          <a:prstGeom prst="rect">
            <a:avLst/>
          </a:prstGeom>
          <a:noFill/>
        </p:spPr>
        <p:txBody>
          <a:bodyPr wrap="square">
            <a:spAutoFit/>
          </a:bodyPr>
          <a:lstStyle/>
          <a:p>
            <a:pPr algn="l" a:rtl="1"/>
            <a:r>
              <a:rPr sz="3200" b="1" i="0">
                <a:solidFill>
                  <a:srgbClr val="FFFFFF"/>
                </a:solidFill>
                <a:latin typeface="Traditional Arabic"/>
                <a:cs typeface="Traditional Arabic"/>
              </a:rPr>
              <a:t>نتطلع إلى شراكة ناجحة</a:t>
            </a:r>
          </a:p>
        </p:txBody>
      </p:sp>
      <p:sp>
        <p:nvSpPr>
          <p:cNvPr id="8" name="TextBox 7"/>
          <p:cNvSpPr txBox="1"/>
          <p:nvPr/>
        </p:nvSpPr>
        <p:spPr>
          <a:xfrm>
            <a:off x="502920" y="2852928"/>
            <a:ext cx="5852160" cy="777240"/>
          </a:xfrm>
          <a:prstGeom prst="rect">
            <a:avLst/>
          </a:prstGeom>
          <a:noFill/>
        </p:spPr>
        <p:txBody>
          <a:bodyPr wrap="square">
            <a:spAutoFit/>
          </a:bodyPr>
          <a:lstStyle/>
          <a:p>
            <a:pPr algn="l" a:rtl="1"/>
            <a:r>
              <a:rPr sz="3200" b="1" i="0">
                <a:solidFill>
                  <a:srgbClr val="E8ECF4"/>
                </a:solidFill>
                <a:latin typeface="Traditional Arabic"/>
                <a:cs typeface="Traditional Arabic"/>
              </a:rPr>
              <a:t>وفعالية متميزة</a:t>
            </a:r>
          </a:p>
        </p:txBody>
      </p:sp>
      <p:sp>
        <p:nvSpPr>
          <p:cNvPr id="9" name="Rectangle 8"/>
          <p:cNvSpPr/>
          <p:nvPr/>
        </p:nvSpPr>
        <p:spPr>
          <a:xfrm>
            <a:off x="502920" y="3749039"/>
            <a:ext cx="4572000" cy="45720"/>
          </a:xfrm>
          <a:prstGeom prst="rect">
            <a:avLst/>
          </a:prstGeom>
          <a:solidFill>
            <a:srgbClr val="1A5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31920"/>
            <a:ext cx="5852160" cy="548640"/>
          </a:xfrm>
          <a:prstGeom prst="rect">
            <a:avLst/>
          </a:prstGeom>
          <a:noFill/>
        </p:spPr>
        <p:txBody>
          <a:bodyPr wrap="square">
            <a:spAutoFit/>
          </a:bodyPr>
          <a:lstStyle/>
          <a:p>
            <a:pPr algn="l" a:rtl="1"/>
            <a:r>
              <a:rPr sz="2000" b="1" i="0">
                <a:solidFill>
                  <a:srgbClr val="FFFFFF"/>
                </a:solidFill>
                <a:latin typeface="Traditional Arabic"/>
                <a:cs typeface="Traditional Arabic"/>
              </a:rPr>
              <a:t>شركة العوفي والحربي</a:t>
            </a:r>
          </a:p>
        </p:txBody>
      </p:sp>
      <p:sp>
        <p:nvSpPr>
          <p:cNvPr id="11" name="TextBox 10"/>
          <p:cNvSpPr txBox="1"/>
          <p:nvPr/>
        </p:nvSpPr>
        <p:spPr>
          <a:xfrm>
            <a:off x="502920" y="4462272"/>
            <a:ext cx="5852160" cy="411480"/>
          </a:xfrm>
          <a:prstGeom prst="rect">
            <a:avLst/>
          </a:prstGeom>
          <a:noFill/>
        </p:spPr>
        <p:txBody>
          <a:bodyPr wrap="square">
            <a:spAutoFit/>
          </a:bodyPr>
          <a:lstStyle/>
          <a:p>
            <a:pPr algn="l"/>
            <a:r>
              <a:rPr sz="1100" b="0" i="0">
                <a:solidFill>
                  <a:srgbClr val="8A94AE"/>
                </a:solidFill>
                <a:latin typeface="Traditional Arabic"/>
                <a:cs typeface="Traditional Arabic"/>
              </a:rPr>
              <a:t>محاسبون ومراجعون قانونيون  •  عضو CLA Global</a:t>
            </a:r>
          </a:p>
        </p:txBody>
      </p:sp>
      <p:sp>
        <p:nvSpPr>
          <p:cNvPr id="12" name="TextBox 11"/>
          <p:cNvSpPr txBox="1"/>
          <p:nvPr/>
        </p:nvSpPr>
        <p:spPr>
          <a:xfrm>
            <a:off x="502920" y="5102352"/>
            <a:ext cx="3200400" cy="384048"/>
          </a:xfrm>
          <a:prstGeom prst="rect">
            <a:avLst/>
          </a:prstGeom>
          <a:noFill/>
        </p:spPr>
        <p:txBody>
          <a:bodyPr wrap="square">
            <a:spAutoFit/>
          </a:bodyPr>
          <a:lstStyle/>
          <a:p>
            <a:pPr algn="l"/>
            <a:r>
              <a:rPr sz="1400" b="0" i="0">
                <a:solidFill>
                  <a:srgbClr val="E8ECF4"/>
                </a:solidFill>
                <a:latin typeface="Traditional Arabic"/>
                <a:cs typeface="Traditional Arabic"/>
              </a:rPr>
              <a:t>www.cla.sa</a:t>
            </a:r>
          </a:p>
        </p:txBody>
      </p:sp>
      <p:sp>
        <p:nvSpPr>
          <p:cNvPr id="13" name="TextBox 12"/>
          <p:cNvSpPr txBox="1"/>
          <p:nvPr/>
        </p:nvSpPr>
        <p:spPr>
          <a:xfrm>
            <a:off x="7589520" y="1188720"/>
            <a:ext cx="3657600" cy="1371600"/>
          </a:xfrm>
          <a:prstGeom prst="rect">
            <a:avLst/>
          </a:prstGeom>
          <a:noFill/>
        </p:spPr>
        <p:txBody>
          <a:bodyPr wrap="square">
            <a:spAutoFit/>
          </a:bodyPr>
          <a:lstStyle/>
          <a:p>
            <a:pPr algn="ctr"/>
            <a:r>
              <a:rPr sz="8800" b="1" i="0">
                <a:solidFill>
                  <a:srgbClr val="001A55"/>
                </a:solidFill>
                <a:latin typeface="Traditional Arabic"/>
                <a:cs typeface="Traditional Arabic"/>
              </a:rPr>
              <a:t>10</a:t>
            </a:r>
          </a:p>
        </p:txBody>
      </p:sp>
      <p:sp>
        <p:nvSpPr>
          <p:cNvPr id="14" name="TextBox 13"/>
          <p:cNvSpPr txBox="1"/>
          <p:nvPr/>
        </p:nvSpPr>
        <p:spPr>
          <a:xfrm>
            <a:off x="7589520" y="2487168"/>
            <a:ext cx="3657600" cy="457200"/>
          </a:xfrm>
          <a:prstGeom prst="rect">
            <a:avLst/>
          </a:prstGeom>
          <a:noFill/>
        </p:spPr>
        <p:txBody>
          <a:bodyPr wrap="square">
            <a:spAutoFit/>
          </a:bodyPr>
          <a:lstStyle/>
          <a:p>
            <a:pPr algn="ctr"/>
            <a:r>
              <a:rPr sz="1500" b="0" i="0">
                <a:solidFill>
                  <a:srgbClr val="8A94AE"/>
                </a:solidFill>
                <a:latin typeface="Traditional Arabic"/>
                <a:cs typeface="Traditional Arabic"/>
              </a:rPr>
              <a:t>جلسة حوارية</a:t>
            </a:r>
          </a:p>
        </p:txBody>
      </p:sp>
      <p:sp>
        <p:nvSpPr>
          <p:cNvPr id="15" name="Rectangle 14"/>
          <p:cNvSpPr/>
          <p:nvPr/>
        </p:nvSpPr>
        <p:spPr>
          <a:xfrm>
            <a:off x="8229600" y="3127248"/>
            <a:ext cx="2286000" cy="4572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3337560"/>
            <a:ext cx="3657600" cy="1005840"/>
          </a:xfrm>
          <a:prstGeom prst="rect">
            <a:avLst/>
          </a:prstGeom>
          <a:noFill/>
        </p:spPr>
        <p:txBody>
          <a:bodyPr wrap="square">
            <a:spAutoFit/>
          </a:bodyPr>
          <a:lstStyle/>
          <a:p>
            <a:pPr algn="ctr"/>
            <a:r>
              <a:rPr sz="6800" b="1" i="0">
                <a:solidFill>
                  <a:srgbClr val="001A55"/>
                </a:solidFill>
                <a:latin typeface="Traditional Arabic"/>
                <a:cs typeface="Traditional Arabic"/>
              </a:rPr>
              <a:t>2</a:t>
            </a:r>
          </a:p>
        </p:txBody>
      </p:sp>
      <p:sp>
        <p:nvSpPr>
          <p:cNvPr id="17" name="TextBox 16"/>
          <p:cNvSpPr txBox="1"/>
          <p:nvPr/>
        </p:nvSpPr>
        <p:spPr>
          <a:xfrm>
            <a:off x="7589520" y="4251960"/>
            <a:ext cx="3657600" cy="457200"/>
          </a:xfrm>
          <a:prstGeom prst="rect">
            <a:avLst/>
          </a:prstGeom>
          <a:noFill/>
        </p:spPr>
        <p:txBody>
          <a:bodyPr wrap="square">
            <a:spAutoFit/>
          </a:bodyPr>
          <a:lstStyle/>
          <a:p>
            <a:pPr algn="ctr"/>
            <a:r>
              <a:rPr sz="1500" b="0" i="0">
                <a:solidFill>
                  <a:srgbClr val="8A94AE"/>
                </a:solidFill>
                <a:latin typeface="Traditional Arabic"/>
                <a:cs typeface="Traditional Arabic"/>
              </a:rPr>
              <a:t>مدة الفعالية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