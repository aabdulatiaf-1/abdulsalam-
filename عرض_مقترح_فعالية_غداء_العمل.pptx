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0" y="118872"/>
            <a:ext cx="164592" cy="662025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"/>
            <a:ext cx="164592" cy="662025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11480"/>
            <a:ext cx="11548872" cy="6080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411480"/>
            <a:ext cx="3182112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68912" y="411480"/>
            <a:ext cx="0" cy="2286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474720"/>
            <a:ext cx="9994392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960120"/>
            <a:ext cx="3227832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960120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 i="0">
                <a:solidFill>
                  <a:srgbClr val="0D1F42"/>
                </a:solidFill>
                <a:latin typeface="Arial"/>
                <a:cs typeface="Arial"/>
              </a:rPr>
              <a:t>عـرض مقـترح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فعـالية غـداء العمل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600" b="0" i="0">
                <a:solidFill>
                  <a:srgbClr val="C48E1A"/>
                </a:solidFill>
                <a:latin typeface="Arial"/>
                <a:cs typeface="Arial"/>
              </a:rPr>
              <a:t>في مجال المراجعة الداخلية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 i="0">
                <a:solidFill>
                  <a:srgbClr val="9AA8C2"/>
                </a:solidFill>
                <a:latin typeface="Arial"/>
                <a:cs typeface="Arial"/>
              </a:rPr>
              <a:t>تُقيمها وترعاها: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05072"/>
            <a:ext cx="115488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 i="0">
                <a:solidFill>
                  <a:srgbClr val="FFFFFF"/>
                </a:solidFill>
                <a:latin typeface="Arial"/>
                <a:cs typeface="Arial"/>
              </a:rPr>
              <a:t>شركة العوفي والحربي  محاسبون ومراجعون قانونيون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48E1A"/>
                </a:solidFill>
                <a:latin typeface="Arial"/>
                <a:cs typeface="Arial"/>
              </a:rPr>
              <a:t>عضو  CLA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212080"/>
            <a:ext cx="8531352" cy="475488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8531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  <a:cs typeface="Arial"/>
              </a:rPr>
              <a:t>فعالية من يومين   |   10 جلسات حوارية   |   70 – 100 مشارك / يوم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897880"/>
            <a:ext cx="1764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48E1A"/>
                </a:solidFill>
                <a:latin typeface="Arial"/>
                <a:cs typeface="Arial"/>
              </a:rPr>
              <a:t>www.cla.sa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258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نظرة عامة على الفعالية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E1A"/>
                </a:solidFill>
                <a:latin typeface="Arial"/>
                <a:cs typeface="Arial"/>
              </a:rPr>
              <a:t>Event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3429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3429000" cy="8229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1B3A6B"/>
                </a:solidFill>
                <a:latin typeface="Arial"/>
                <a:cs typeface="Arial"/>
              </a:rPr>
              <a:t>مدة الفعالية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39112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C48E1A"/>
                </a:solidFill>
                <a:latin typeface="Arial"/>
                <a:cs typeface="Arial"/>
              </a:rPr>
              <a:t>يومان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9AA8C2"/>
                </a:solidFill>
                <a:latin typeface="Arial"/>
                <a:cs typeface="Arial"/>
              </a:rPr>
              <a:t>Day 1  &amp;  Day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508760"/>
            <a:ext cx="3429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87368" y="1508760"/>
            <a:ext cx="3429000" cy="8229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16459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1B3A6B"/>
                </a:solidFill>
                <a:latin typeface="Arial"/>
                <a:cs typeface="Arial"/>
              </a:rPr>
              <a:t>عدد الجلسات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039112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C48E1A"/>
                </a:solidFill>
                <a:latin typeface="Arial"/>
                <a:cs typeface="Arial"/>
              </a:rPr>
              <a:t>10 جلسات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26974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9AA8C2"/>
                </a:solidFill>
                <a:latin typeface="Arial"/>
                <a:cs typeface="Arial"/>
              </a:rPr>
              <a:t>5 جلسات في كل يوم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6" y="1508760"/>
            <a:ext cx="3429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6" y="1508760"/>
            <a:ext cx="3429000" cy="8229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8976" y="164591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1B3A6B"/>
                </a:solidFill>
                <a:latin typeface="Arial"/>
                <a:cs typeface="Arial"/>
              </a:rPr>
              <a:t>المشاركون / يوم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6" y="2039112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000" b="1" i="0">
                <a:solidFill>
                  <a:srgbClr val="C48E1A"/>
                </a:solidFill>
                <a:latin typeface="Arial"/>
                <a:cs typeface="Arial"/>
              </a:rPr>
              <a:t>70 –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6" y="269748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0" i="0">
                <a:solidFill>
                  <a:srgbClr val="9AA8C2"/>
                </a:solidFill>
                <a:latin typeface="Arial"/>
                <a:cs typeface="Arial"/>
              </a:rPr>
              <a:t>شخص متوقع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11457432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11880"/>
            <a:ext cx="1145743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3075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1B3A6B"/>
                </a:solidFill>
                <a:latin typeface="Arial"/>
                <a:cs typeface="Arial"/>
              </a:rPr>
              <a:t>عن الفعالية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700"/>
              </a:spcAft>
            </a:pPr>
            <a:r>
              <a:rPr sz="1300" b="0">
                <a:solidFill>
                  <a:srgbClr val="141A2E"/>
                </a:solidFill>
                <a:latin typeface="Arial"/>
                <a:cs typeface="Arial"/>
              </a:rPr>
              <a:t>تهدف الفعالية إلى استقطاب النخبة من المهنيين والمختصين في مجال المراجعة الداخلية في بيئة احترافية تفاعلية تجمع الفكر مع العمل.</a:t>
            </a:r>
          </a:p>
          <a:p>
            <a:pPr algn="r" a:rtl="1">
              <a:spcAft>
                <a:spcPts val="700"/>
              </a:spcAft>
            </a:pPr>
            <a:r>
              <a:rPr sz="1300" b="0">
                <a:solidFill>
                  <a:srgbClr val="141A2E"/>
                </a:solidFill>
                <a:latin typeface="Arial"/>
                <a:cs typeface="Arial"/>
              </a:rPr>
              <a:t>تشتمل الفعالية على عشر جلسات حوارية متخصصة تغطي أبرز محاور وتحديات المهنة، موزعة بالتساوي على يومين متتاليين.</a:t>
            </a:r>
          </a:p>
          <a:p>
            <a:pPr algn="r" a:rtl="1">
              <a:spcAft>
                <a:spcPts val="700"/>
              </a:spcAft>
            </a:pPr>
            <a:r>
              <a:rPr sz="1300" b="0">
                <a:solidFill>
                  <a:srgbClr val="141A2E"/>
                </a:solidFill>
                <a:latin typeface="Arial"/>
                <a:cs typeface="Arial"/>
              </a:rPr>
              <a:t>تُدار كل جلسة بإشراف مدير حوار متخصص من مكتب العوفي والحربي، بمشاركة راعٍ مؤسسي ومتحدثَين مستقلَّين لإثراء النقاش.</a:t>
            </a:r>
          </a:p>
          <a:p>
            <a:pPr algn="r" a:rtl="1">
              <a:spcAft>
                <a:spcPts val="700"/>
              </a:spcAft>
            </a:pPr>
            <a:r>
              <a:rPr sz="1300" b="0">
                <a:solidFill>
                  <a:srgbClr val="141A2E"/>
                </a:solidFill>
                <a:latin typeface="Arial"/>
                <a:cs typeface="Arial"/>
              </a:rPr>
              <a:t>يُتاح للرعاة والمتحدثين تعزيز حضورهم المهني وتوسيع شبكة علاقاتهم في الوسط المهني.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258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هيكل الفعالية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E1A"/>
                </a:solidFill>
                <a:latin typeface="Arial"/>
                <a:cs typeface="Arial"/>
              </a:rPr>
              <a:t>Event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7607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76072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900" b="1" i="0">
                <a:solidFill>
                  <a:srgbClr val="FFFFFF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2130552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2276856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27685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4028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1  –  المراجعة الداخلية والحوكمة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59" y="2962656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3108960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10896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2  –  معايير المراجعة الدولية IPPF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59" y="3794760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3941064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94106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0448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3  –  إدارة المخاطر المؤسسية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59" y="4626864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4773168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7731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365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4  –  التحول الرقمي والمراجعة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59" y="5458968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5605272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6052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6869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5  –  الأخلاقيات والاستقلالية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54496" y="1508760"/>
            <a:ext cx="57607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1508760"/>
            <a:ext cx="576072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1508760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900" b="1" i="0">
                <a:solidFill>
                  <a:srgbClr val="FFFFFF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216" y="2130552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12296" y="2276856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512296" y="227685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24028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6  –  المراجعة القائمة على المخاطر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2962656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12296" y="3108960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512296" y="310896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307238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7  –  مكافحة الاحتيال والفساد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216" y="3794760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12296" y="3941064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512296" y="394106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390448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8  –  تقييم الرقابة الداخلية COSO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216" y="4626864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12296" y="4773168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12296" y="47731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656" y="47365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9  –  مستقبل المهنة ورؤية 2030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0216" y="5458968"/>
            <a:ext cx="5669280" cy="7498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512296" y="5605272"/>
            <a:ext cx="384048" cy="4572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512296" y="56052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1656" y="556869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41A2E"/>
                </a:solidFill>
                <a:latin typeface="Arial"/>
                <a:cs typeface="Arial"/>
              </a:rPr>
              <a:t>الجلسة 10 –  تكامل المراجعة الداخلية والخارجية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2834640"/>
            <a:ext cx="265176" cy="54864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61888" y="3749039"/>
            <a:ext cx="265176" cy="54864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61888" y="4663440"/>
            <a:ext cx="265176" cy="54864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دور المراجعة الداخلية في تعزيز حوكمة الشركات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مفهوم الحوكمة المؤسسية ومتطلباتها وفق الأنظمة السعودية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دور المراجع الداخلي في دعم وتعزيز بيئة الحوكمة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العلاقة التكاملية بين المراجعة الداخلية ومجلس الإدارة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أفضل الممارسات العالمية والتجارب الناجحة في حوكمة المراجعة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معايير المراجعة الداخلية الدولية (IPPF 2024) والبيئة السعودية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نظرة عامة على إطار IPPF 2024 المُحدَّث وأبرز المستجدات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متطلبات الامتثال للمعايير الدولية وآليات التطبيق المحلي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المقارنة بين الإطار القديم والجديد وأهم التغييرات الجوهرية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آليات تطبيق المعايير بكفاءة في المنشآت السعودية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إدارة المخاطر المؤسسية وأثرها على خطة المراجعة الداخلية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إطار إدارة المخاطر المؤسسية (ERM) وركائزه الأساسية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تحديد وتقييم المخاطر الجوهرية في المنشآت الكبرى والمتوسطة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بناء خطة المراجعة السنوية على أساس التحليل الدقيق للمخاطر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الربط الفعّال بين خريطة المخاطر وأولويات المراجعة الداخلية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التحول الرقمي وأثره على مهنة المراجعة الداخلية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الذكاء الاصطناعي وتحليل البيانات الضخمة في عمليات المراجعة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أدوات المراجعة الرقمية الحديثة وتطبيقاتها العملية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مراجعة أمن المعلومات وحماية البنية التحتية للأنظمة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الفرص والتحديات التي يطرحها التحول الرقمي على المراجع الداخلي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الاستقلالية والموضوعية وأخلاقيات المراجعة الداخلية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ميثاق الأخلاقيات المهنية للمراجع الداخلي وفق معايير IIA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الاستقلالية التنظيمية والموضوعية الفردية وضماناتها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إدارة حالات تعارض المصالح ومعالجتها بمهنية عالية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دور الثقافة المؤسسية في تعزيز الأخلاقيات والنزاهة المهنية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المراجعة الداخلية القائمة على المخاطر – المنهجية والتطبيق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منهجية المراجعة القائمة على المخاطر خطوةً بخطوة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بناء خطة مهمة المراجعة انطلاقاً من تقييم المخاطر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تحديد حجم العينة والإجراءات بناءً على درجة المخاطر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صياغة تقارير المراجعة القائمة على المخاطر وفق المعايير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دور المراجعة الداخلية في مكافحة الاحتيال والفساد المالي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أساليب الكشف المبكر عن الغش والاحتيال في المنشآت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إطار الوقاية من الاحتيال ودور المراجع الداخلي المحوري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إجراءات التحقيق الداخلي عند الاشتباه بحالات الاحتيال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الامتثال لأنظمة مكافحة الاحتيال وغسيل الأموال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تقييم فاعلية الرقابة الداخلية وفق إطار COSO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مكونات إطار COSO للرقابة الداخلية ومبادئه الأساسية الخمسة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منهجيات تقييم فاعلية بيئة الرقابة الداخلية بشكل متكامل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تحديد نقاط الضعف الجوهرية والإخفاقات الرقابية ومعالجتها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بناء خطط العلاج الفعّالة ومتابعة تنفيذ التوصيات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مستقبل مهنة المراجعة الداخلية في ظل رؤية 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الاتجاهات العالمية الراهنة لمهنة المراجعة الداخلية وتطورها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أثر رؤية 2030 والإصلاحات الاقتصادية الكبرى على مسيرة المهنة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متطلبات سوق العمل السعودي للمراجع الداخلي الكفء المستقبلي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مسارات تطوير الكفاءات المهنية والمسار الوظيفي للمراجع الداخلي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5544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09728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0D1F42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566928"/>
            <a:ext cx="14264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 i="0">
                <a:solidFill>
                  <a:srgbClr val="1B3A6B"/>
                </a:solidFill>
                <a:latin typeface="Arial"/>
                <a:cs typeface="Arial"/>
              </a:rPr>
              <a:t>الجلسة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09728"/>
            <a:ext cx="10195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التكامل بين المراجعة الداخلية والخارجية ودور لجنة المراجعة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00100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8001000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992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محاور الجلسة الحوارية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3113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77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30428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أولاً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65176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الفوارق والتكامل المنهجي بين المراجعة الداخلية والخارجية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0040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23697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3832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3101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ثانياً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65760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آليات التنسيق والتعاون الفعّال بين الفريقين في الميدان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24281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3891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159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ثالثاً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6344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دور لجنة المراجعة في الإشراف والحوكمة وتفعيل المساءلة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212080"/>
            <a:ext cx="8001000" cy="9144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248656"/>
            <a:ext cx="64008" cy="82296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539496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218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1" i="0">
                <a:solidFill>
                  <a:srgbClr val="C48E1A"/>
                </a:solidFill>
                <a:latin typeface="Arial"/>
                <a:cs typeface="Arial"/>
              </a:rPr>
              <a:t>رابعاً 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669280"/>
            <a:ext cx="7086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41A2E"/>
                </a:solidFill>
                <a:latin typeface="Arial"/>
                <a:cs typeface="Arial"/>
              </a:rPr>
              <a:t>نماذج تطبيقية ناجحة في تعزيز التنسيق والعمل المشترك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709928"/>
            <a:ext cx="3657600" cy="4663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709928"/>
            <a:ext cx="3657600" cy="7315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8013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C48E1A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377440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450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788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من مكتب العوفي والحربي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9AA8C2"/>
                </a:solidFill>
                <a:latin typeface="Arial"/>
                <a:cs typeface="Arial"/>
              </a:rPr>
              <a:t>أ. [اسم مدير الحوار]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54787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630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97763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2793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4736592"/>
            <a:ext cx="3474720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818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1937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FFFFFF"/>
                </a:solidFill>
                <a:latin typeface="Arial"/>
                <a:cs typeface="Arial"/>
              </a:rPr>
              <a:t>م. [المتحدث المستقل  2]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6053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0" i="0">
                <a:solidFill>
                  <a:srgbClr val="F5EBCE"/>
                </a:solidFill>
                <a:latin typeface="Arial"/>
                <a:cs typeface="Arial"/>
              </a:rPr>
              <a:t>إيراد كل متحدث: 4,000 ريال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258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التكاليف التقديرية للفعالية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E1A"/>
                </a:solidFill>
                <a:latin typeface="Arial"/>
                <a:cs typeface="Arial"/>
              </a:rPr>
              <a:t>Estimated Event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11548872" cy="47548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البند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48132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المبلغ (ريال سعودي)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81328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النوع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57400"/>
            <a:ext cx="1154887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1031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41A2E"/>
                </a:solidFill>
                <a:latin typeface="Arial"/>
                <a:cs typeface="Arial"/>
              </a:rPr>
              <a:t>رخصة تصريح إقامة الفعالية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24028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1B3A6B"/>
                </a:solidFill>
                <a:latin typeface="Arial"/>
                <a:cs typeface="Arial"/>
              </a:rPr>
              <a:t>5,000 ريال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58568"/>
            <a:ext cx="914400" cy="41148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2585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rial"/>
                <a:cs typeface="Arial"/>
              </a:rPr>
              <a:t>ثابت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90088"/>
            <a:ext cx="11548872" cy="84124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03580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41A2E"/>
                </a:solidFill>
                <a:latin typeface="Arial"/>
                <a:cs typeface="Arial"/>
              </a:rPr>
              <a:t>تكاليف مكتب الفعاليات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17296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1B3A6B"/>
                </a:solidFill>
                <a:latin typeface="Arial"/>
                <a:cs typeface="Arial"/>
              </a:rPr>
              <a:t>8,000 ريال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191256"/>
            <a:ext cx="914400" cy="41148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19125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rial"/>
                <a:cs typeface="Arial"/>
              </a:rPr>
              <a:t>ثابت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22776"/>
            <a:ext cx="1154887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96849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41A2E"/>
                </a:solidFill>
                <a:latin typeface="Arial"/>
                <a:cs typeface="Arial"/>
              </a:rPr>
              <a:t>تكاليف الاستضافة – الحد الأدنى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36168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9AA8C2"/>
                </a:solidFill>
                <a:latin typeface="Arial"/>
                <a:cs typeface="Arial"/>
              </a:rPr>
              <a:t>70 شخص × 280 ريال × 2 يوم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10565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1B3A6B"/>
                </a:solidFill>
                <a:latin typeface="Arial"/>
                <a:cs typeface="Arial"/>
              </a:rPr>
              <a:t>39,200 ريال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23944"/>
            <a:ext cx="914400" cy="411480"/>
          </a:xfrm>
          <a:prstGeom prst="rect">
            <a:avLst/>
          </a:prstGeom>
          <a:solidFill>
            <a:srgbClr val="1B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12394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rial"/>
                <a:cs typeface="Arial"/>
              </a:rPr>
              <a:t>متغير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55464"/>
            <a:ext cx="11548872" cy="84124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490118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41A2E"/>
                </a:solidFill>
                <a:latin typeface="Arial"/>
                <a:cs typeface="Arial"/>
              </a:rPr>
              <a:t>تكاليف الاستضافة – الحد الأعلى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29437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9AA8C2"/>
                </a:solidFill>
                <a:latin typeface="Arial"/>
                <a:cs typeface="Arial"/>
              </a:rPr>
              <a:t>100 شخص × 350 ريال × 2 يوم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03834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1B3A6B"/>
                </a:solidFill>
                <a:latin typeface="Arial"/>
                <a:cs typeface="Arial"/>
              </a:rPr>
              <a:t>70,000 ريال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5056632"/>
            <a:ext cx="914400" cy="411480"/>
          </a:xfrm>
          <a:prstGeom prst="rect">
            <a:avLst/>
          </a:prstGeom>
          <a:solidFill>
            <a:srgbClr val="1B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505663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 i="0">
                <a:solidFill>
                  <a:srgbClr val="FFFFFF"/>
                </a:solidFill>
                <a:latin typeface="Arial"/>
                <a:cs typeface="Arial"/>
              </a:rPr>
              <a:t>متغير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806440"/>
            <a:ext cx="11548872" cy="5669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5806440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إجمالي التكاليف المتوقعة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80644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 i="0">
                <a:solidFill>
                  <a:srgbClr val="C48E1A"/>
                </a:solidFill>
                <a:latin typeface="Arial"/>
                <a:cs typeface="Arial"/>
              </a:rPr>
              <a:t>52,200 – 83,000 ريال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41908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9AA8C2"/>
                </a:solidFill>
                <a:latin typeface="Arial"/>
                <a:cs typeface="Arial"/>
              </a:rPr>
              <a:t>* التكاليف المتغيرة محسوبة بناءً على توقع حضور 70 – 100 شخص / يوم × يومين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325880"/>
            <a:ext cx="12051792" cy="6400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الإيرادات المتوقعة للفعالية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749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8E1A"/>
                </a:solidFill>
                <a:latin typeface="Arial"/>
                <a:cs typeface="Arial"/>
              </a:rPr>
              <a:t>Projected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محاسبون ومراجعون قانونيون  |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115488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91440" cy="13716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5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900" b="1" i="0">
                <a:solidFill>
                  <a:srgbClr val="1B3A6B"/>
                </a:solidFill>
                <a:latin typeface="Arial"/>
                <a:cs typeface="Arial"/>
              </a:rPr>
              <a:t>رعاة الجلسات الحوارية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3113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9AA8C2"/>
                </a:solidFill>
                <a:latin typeface="Arial"/>
                <a:cs typeface="Arial"/>
              </a:rPr>
              <a:t>10 جلسات  ×  10,000 ريال / جلسة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65376"/>
            <a:ext cx="2743200" cy="71323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865376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100,000 ريال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27248"/>
            <a:ext cx="115488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27248"/>
            <a:ext cx="91440" cy="137160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369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900" b="1" i="0">
                <a:solidFill>
                  <a:srgbClr val="1B3A6B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85615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9AA8C2"/>
                </a:solidFill>
                <a:latin typeface="Arial"/>
                <a:cs typeface="Arial"/>
              </a:rPr>
              <a:t>10 جلسات  ×  متحدثان  ×  4,000 ريال / متحدث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419856"/>
            <a:ext cx="2743200" cy="71323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3419856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80,000 ريال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54880"/>
            <a:ext cx="11548872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75488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إجمالي الإيرادات المتوقعة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54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 i="0">
                <a:solidFill>
                  <a:srgbClr val="C48E1A"/>
                </a:solidFill>
                <a:latin typeface="Arial"/>
                <a:cs typeface="Arial"/>
              </a:rPr>
              <a:t>180,000 ريال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77840"/>
            <a:ext cx="11548872" cy="795528"/>
          </a:xfrm>
          <a:prstGeom prst="rect">
            <a:avLst/>
          </a:prstGeom>
          <a:solidFill>
            <a:srgbClr val="F5E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109728" cy="795528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5778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3A6B"/>
                </a:solidFill>
                <a:latin typeface="Arial"/>
                <a:cs typeface="Arial"/>
              </a:rPr>
              <a:t>صافي الفائض المتوقع (بعد خصم التكاليف)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943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 i="0">
                <a:solidFill>
                  <a:srgbClr val="141A2E"/>
                </a:solidFill>
                <a:latin typeface="Arial"/>
                <a:cs typeface="Arial"/>
              </a:rPr>
              <a:t>97,000  –  127,800 ريال سعودي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C48E1A"/>
                </a:solidFill>
                <a:latin typeface="Arial"/>
                <a:cs typeface="Arial"/>
              </a:rPr>
              <a:t>النطاق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19088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9AA8C2"/>
                </a:solidFill>
                <a:latin typeface="Arial"/>
                <a:cs typeface="Arial"/>
              </a:rPr>
              <a:t>* الأرقام تقديرية وقابلة للمراجعة وفقاً لعدد المشاركين الفعلي وشروط التفاوض مع الرعاة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"/>
            <a:ext cx="164592" cy="662025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0" y="118872"/>
            <a:ext cx="164592" cy="6620256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57200"/>
            <a:ext cx="11548872" cy="6080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9445752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846320"/>
            <a:ext cx="9445752" cy="45720"/>
          </a:xfrm>
          <a:prstGeom prst="rect">
            <a:avLst/>
          </a:prstGeom>
          <a:solidFill>
            <a:srgbClr val="C4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600" b="1" i="0">
                <a:solidFill>
                  <a:srgbClr val="FFFFFF"/>
                </a:solidFill>
                <a:latin typeface="Arial"/>
                <a:cs typeface="Arial"/>
              </a:rPr>
              <a:t>شـكراً لاهتمامكم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200" b="0" i="0">
                <a:solidFill>
                  <a:srgbClr val="C48E1A"/>
                </a:solidFill>
                <a:latin typeface="Arial"/>
                <a:cs typeface="Arial"/>
              </a:rPr>
              <a:t>نتطلع إلى شراكة ناجحة وفعالية متميزة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شركة العوفي والحربي  محاسبون ومراجعون قانونيون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48E1A"/>
                </a:solidFill>
                <a:latin typeface="Arial"/>
                <a:cs typeface="Arial"/>
              </a:rPr>
              <a:t>عضو  CLA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160520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48E1A"/>
                </a:solidFill>
                <a:latin typeface="Arial"/>
                <a:cs typeface="Arial"/>
              </a:rPr>
              <a:t>www.cla.sa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 i="0">
                <a:solidFill>
                  <a:srgbClr val="9AA8C2"/>
                </a:solidFill>
                <a:latin typeface="Arial"/>
                <a:cs typeface="Arial"/>
              </a:rPr>
              <a:t>للتواصل والاستفسار يُرجى زيارة الموقع الإلكتروني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