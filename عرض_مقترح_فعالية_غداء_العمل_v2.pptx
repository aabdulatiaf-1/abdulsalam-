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5852160" y="0"/>
            <a:ext cx="1371600" cy="685800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94960"/>
            <a:ext cx="6675120" cy="7315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94360"/>
            <a:ext cx="2011680" cy="38404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94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عرض مقترح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4600" b="1" i="0">
                <a:solidFill>
                  <a:srgbClr val="FFFFFF"/>
                </a:solidFill>
                <a:latin typeface="Arial"/>
                <a:cs typeface="Arial"/>
              </a:rPr>
              <a:t>فعالية غداء العمل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603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2000" b="0" i="0">
                <a:solidFill>
                  <a:srgbClr val="E8ECF4"/>
                </a:solidFill>
                <a:latin typeface="Arial"/>
                <a:cs typeface="Arial"/>
              </a:rPr>
              <a:t>في مجال المراجعة الداخلية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10128"/>
            <a:ext cx="5029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493008"/>
            <a:ext cx="6035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2200" b="1" i="0">
                <a:solidFill>
                  <a:srgbClr val="FFFFFF"/>
                </a:solidFill>
                <a:latin typeface="Arial"/>
                <a:cs typeface="Arial"/>
              </a:rPr>
              <a:t>شركة العوفي والحربي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96512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E"/>
                </a:solidFill>
                <a:latin typeface="Arial"/>
                <a:cs typeface="Arial"/>
              </a:rPr>
              <a:t>محاسبون ومراجعون قانونيون  •  عضو CLA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126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4"/>
                </a:solidFill>
                <a:latin typeface="Arial"/>
                <a:cs typeface="Arial"/>
              </a:rPr>
              <a:t>www.cla.sa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914400"/>
            <a:ext cx="4114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914400"/>
            <a:ext cx="73152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02412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1A55"/>
                </a:solidFill>
                <a:latin typeface="Arial"/>
                <a:cs typeface="Arial"/>
              </a:rPr>
              <a:t>يومان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7190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E"/>
                </a:solidFill>
                <a:latin typeface="Arial"/>
                <a:cs typeface="Arial"/>
              </a:rPr>
              <a:t>مدة الفعالية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2606040"/>
            <a:ext cx="4114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2606040"/>
            <a:ext cx="73152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71576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1A55"/>
                </a:solidFill>
                <a:latin typeface="Arial"/>
                <a:cs typeface="Arial"/>
              </a:rPr>
              <a:t>10 جلسات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4107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E"/>
                </a:solidFill>
                <a:latin typeface="Arial"/>
                <a:cs typeface="Arial"/>
              </a:rPr>
              <a:t>جلسات حوارية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297680"/>
            <a:ext cx="4114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4297680"/>
            <a:ext cx="73152" cy="1417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40740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1A55"/>
                </a:solidFill>
                <a:latin typeface="Arial"/>
                <a:cs typeface="Arial"/>
              </a:rPr>
              <a:t>70 – 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1023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E"/>
                </a:solidFill>
                <a:latin typeface="Arial"/>
                <a:cs typeface="Arial"/>
              </a:rPr>
              <a:t>مشارك / يوم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3291840" y="0"/>
            <a:ext cx="914400" cy="118872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3000" b="1" i="0">
                <a:solidFill>
                  <a:srgbClr val="FFFFFF"/>
                </a:solidFill>
                <a:latin typeface="Arial"/>
                <a:cs typeface="Arial"/>
              </a:rPr>
              <a:t>نظرة عامة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19202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1A55"/>
                </a:solidFill>
                <a:latin typeface="Arial"/>
                <a:cs typeface="Arial"/>
              </a:rPr>
              <a:t>يومان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4AE"/>
                </a:solidFill>
                <a:latin typeface="Arial"/>
                <a:cs typeface="Arial"/>
              </a:rPr>
              <a:t>مدة الفعالية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3657600" cy="19202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371600"/>
            <a:ext cx="3657600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5087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1A55"/>
                </a:solidFill>
                <a:latin typeface="Arial"/>
                <a:cs typeface="Arial"/>
              </a:rPr>
              <a:t>10 جلسات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4AE"/>
                </a:solidFill>
                <a:latin typeface="Arial"/>
                <a:cs typeface="Arial"/>
              </a:rPr>
              <a:t>جلسات حوارية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71600"/>
            <a:ext cx="3657600" cy="192024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371600"/>
            <a:ext cx="3657600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5087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1A55"/>
                </a:solidFill>
                <a:latin typeface="Arial"/>
                <a:cs typeface="Arial"/>
              </a:rPr>
              <a:t>70 –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4AE"/>
                </a:solidFill>
                <a:latin typeface="Arial"/>
                <a:cs typeface="Arial"/>
              </a:rPr>
              <a:t>مشارك / يوم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0440"/>
            <a:ext cx="11457432" cy="27432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64008" cy="27432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03320"/>
            <a:ext cx="110642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>
              <a:spcAft>
                <a:spcPts val="900"/>
              </a:spcAft>
            </a:pPr>
            <a:r>
              <a:rPr sz="1400" b="0">
                <a:solidFill>
                  <a:srgbClr val="0D1A33"/>
                </a:solidFill>
                <a:latin typeface="Arial"/>
                <a:cs typeface="Arial"/>
              </a:rPr>
              <a:t>تهدف الفعالية إلى استقطاب النخبة من المهنيين والمختصين في مجال المراجعة الداخلية في بيئة احترافية تفاعلية.</a:t>
            </a:r>
          </a:p>
          <a:p>
            <a:pPr algn="r" a:rtl="1">
              <a:spcAft>
                <a:spcPts val="900"/>
              </a:spcAft>
            </a:pPr>
            <a:r>
              <a:rPr sz="1400" b="0">
                <a:solidFill>
                  <a:srgbClr val="0D1A33"/>
                </a:solidFill>
                <a:latin typeface="Arial"/>
                <a:cs typeface="Arial"/>
              </a:rPr>
              <a:t>تشتمل على عشر جلسات حوارية متخصصة توزّع بالتساوي على يومين متتاليين تغطي أبرز محاور المهنة وتحدياتها.</a:t>
            </a:r>
          </a:p>
          <a:p>
            <a:pPr algn="r" a:rtl="1">
              <a:spcAft>
                <a:spcPts val="900"/>
              </a:spcAft>
            </a:pPr>
            <a:r>
              <a:rPr sz="1400" b="0">
                <a:solidFill>
                  <a:srgbClr val="0D1A33"/>
                </a:solidFill>
                <a:latin typeface="Arial"/>
                <a:cs typeface="Arial"/>
              </a:rPr>
              <a:t>تُدار كل جلسة بمدير حوار متخصص من مكتب العوفي والحربي مع راعٍ مؤسسي ومتحدثَين مستقلَّين.</a:t>
            </a:r>
          </a:p>
          <a:p>
            <a:pPr algn="r" a:rtl="1">
              <a:spcAft>
                <a:spcPts val="900"/>
              </a:spcAft>
            </a:pPr>
            <a:r>
              <a:rPr sz="1400" b="0">
                <a:solidFill>
                  <a:srgbClr val="0D1A33"/>
                </a:solidFill>
                <a:latin typeface="Arial"/>
                <a:cs typeface="Arial"/>
              </a:rPr>
              <a:t>تمنح الرعاة والمتحدثين فرصة تعزيز حضورهم المهني وتوسيع شبكة علاقاتهم في الوسط المهني.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3291840" y="0"/>
            <a:ext cx="914400" cy="118872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3000" b="1" i="0">
                <a:solidFill>
                  <a:srgbClr val="FFFFFF"/>
                </a:solidFill>
                <a:latin typeface="Arial"/>
                <a:cs typeface="Arial"/>
              </a:rPr>
              <a:t>هيكل الفعالية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53312"/>
            <a:ext cx="57607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32120" y="2167128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1671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139696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1  –  المراجعة الداخلية والحوكمة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89504"/>
            <a:ext cx="57607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32120" y="3063240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035808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2  –  معايير المراجعة الدولية IPPF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85616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3959352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395935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3931920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3  –  إدارة المخاطر المؤسسية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81728"/>
            <a:ext cx="57607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32120" y="4855464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485546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828032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4  –  التحول الرقمي والمراجعة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577840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2120" y="5751576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57515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5724144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5  –  الأخلاقيات والاستقلالية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4496" y="1353312"/>
            <a:ext cx="5760720" cy="5486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135331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1993392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66576" y="2167128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66576" y="21671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2139696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6   –  المراجعة القائمة على المخاطر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4496" y="2889504"/>
            <a:ext cx="57607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66576" y="3063240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66576" y="306324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3035808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7   –  مكافحة الاحتيال والفساد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3785616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66576" y="3959352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66576" y="395935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4224" y="3931920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8   –  تقييم الرقابة الداخلية COSO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4496" y="4681728"/>
            <a:ext cx="57607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466576" y="4855464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66576" y="485546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4" y="4828032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9   –  مستقبل المهنة ورؤية 2030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5577840"/>
            <a:ext cx="5760720" cy="80467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66576" y="5751576"/>
            <a:ext cx="438912" cy="43891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66576" y="575157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4224" y="5724144"/>
            <a:ext cx="4983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الجلسة 10  –  تكامل المراجعتين الداخلية والخارجية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دور المراجعة الداخلية في تعزيز حوكمة الشركات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مفهوم الحوكمة المؤسسية ومتطلباتها في الأنظمة السعودية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دور المراجع الداخلي في دعم وتعزيز بيئة الحوكمة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العلاقة التكاملية بين المراجعة الداخلية ومجلس الإدارة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أفضل الممارسات والتجارب الناجحة في حوكمة المراجعة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معايير المراجعة الداخلية الدولية (IPPF 2024) والبيئة السعودية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نظرة عامة على إطار IPPF 2024 وأبرز المستجدات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متطلبات الامتثال وآليات التطبيق في البيئة المحلية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المقارنة بين الإطار القديم والجديد وأهم التغييرات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تطبيق المعايير بكفاءة في المنشآت السعودية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إدارة المخاطر المؤسسية وأثرها على خطة المراجعة الداخلية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إطار إدارة المخاطر المؤسسية (ERM) وركائزه الأساسية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تحديد وتقييم المخاطر الجوهرية في المنشآت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بناء خطة المراجعة السنوية على أساس المخاطر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الربط الفعّال بين خريطة المخاطر وأولويات المراجعة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التحول الرقمي وأثره على مهنة المراجعة الداخلية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الذكاء الاصطناعي وتحليل البيانات الضخمة في المراجعة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أدوات المراجعة الرقمية الحديثة وتطبيقاتها العملية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مراجعة أمن المعلومات وحماية البنية التحتية للأنظمة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الفرص والتحديات التي يطرحها التحول الرقمي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الاستقلالية والموضوعية وأخلاقيات المراجعة الداخلية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ميثاق الأخلاقيات المهنية للمراجع الداخلي وفق معايير IIA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الاستقلالية التنظيمية والموضوعية الفردية وضماناتها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إدارة حالات تعارض المصالح ومعالجتها مهنياً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دور الثقافة المؤسسية في تعزيز الأخلاقيات والنزاهة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المراجعة الداخلية القائمة على المخاطر – المنهجية والتطبيق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منهجية المراجعة القائمة على المخاطر خطوةً بخطوة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بناء خطة مهمة المراجعة انطلاقاً من تقييم المخاطر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تحديد حجم العينة والإجراءات بناءً على درجة المخاطر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صياغة تقارير المراجعة القائمة على المخاطر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دور المراجعة الداخلية في مكافحة الاحتيال والفساد المالي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أساليب الكشف المبكر عن الغش والاحتيال في المنشآت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إطار الوقاية من الاحتيال ودور المراجع الداخلي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إجراءات التحقيق الداخلي عند الاشتباه بالاحتيال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الامتثال لأنظمة مكافحة الاحتيال وغسيل الأموال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تقييم فاعلية الرقابة الداخلية وفق إطار COSO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مكونات إطار COSO للرقابة الداخلية ومبادئه الخمسة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منهجيات تقييم فاعلية بيئة الرقابة الداخلية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تحديد نقاط الضعف الجوهرية والإخفاقات الرقابية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بناء خطط العلاج ومتابعة تنفيذ التوصيات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مستقبل مهنة المراجعة الداخلية في ظل رؤية 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الاتجاهات العالمية لمهنة المراجعة الداخلية وتطورها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أثر رؤية 2030 والإصلاحات الاقتصادية على المهنة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متطلبات سوق العمل السعودي للمراجع الداخلي المستقبلي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مسارات تطوير الكفاءات المهنية والمسار الوظيفي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0"/>
            <a:ext cx="548640" cy="5486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4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170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ECF4"/>
                </a:solidFill>
                <a:latin typeface="Arial"/>
                <a:cs typeface="Arial"/>
              </a:rPr>
              <a:t>D2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09728"/>
            <a:ext cx="11338560" cy="11704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2A8"/>
                </a:solidFill>
                <a:latin typeface="Arial"/>
                <a:cs typeface="Arial"/>
              </a:rPr>
              <a:t>الجلسة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اليوم الثاني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001A55"/>
                </a:solidFill>
                <a:latin typeface="Arial"/>
                <a:cs typeface="Arial"/>
              </a:rPr>
              <a:t>التكامل بين المراجعة الداخلية والخارجية ودور لجنة المراجعة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325880"/>
            <a:ext cx="11338560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417320"/>
            <a:ext cx="781812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  <a:latin typeface="Arial"/>
                <a:cs typeface="Arial"/>
              </a:rPr>
              <a:t>محاور الجلسة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1901952"/>
            <a:ext cx="7818120" cy="36576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1956816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1762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أولاً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066544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الفوارق والتكامل المنهجي بين المراجعة الداخلية والخارجية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81528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118104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3375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ثانياً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22783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آليات التنسيق والتعاون الفعّال بين الفريقين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279392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498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ثالثاً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3891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دور لجنة المراجعة في الإشراف والحوكمة والمساءلة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04104"/>
            <a:ext cx="7818120" cy="107899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440680"/>
            <a:ext cx="45720" cy="100584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660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cs typeface="Arial"/>
              </a:rPr>
              <a:t>رابعاً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55504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نماذج تطبيقية ناجحة في تعزيز التنسيق المشترك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1417320"/>
            <a:ext cx="3410712" cy="498348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41080" y="1417320"/>
            <a:ext cx="3410712" cy="54864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1481328"/>
            <a:ext cx="3410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A55"/>
                </a:solidFill>
                <a:latin typeface="Arial"/>
                <a:cs typeface="Arial"/>
              </a:rPr>
              <a:t>فريق الجلسة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2011680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مدير الحوار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2340864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أ. [اسم مدير الحوار]
مكتب العوفي والحربي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16382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راعي الجلسة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493008"/>
            <a:ext cx="3227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[اسم الجهة الراعية]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0416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إيراد الرعاية: 10,000 ريال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498848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828032"/>
            <a:ext cx="32278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A33"/>
                </a:solidFill>
                <a:latin typeface="Arial"/>
                <a:cs typeface="Arial"/>
              </a:rPr>
              <a:t>م. [المتحدث الأول]
م. [المتحدث الثاني]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41264"/>
            <a:ext cx="3227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2A8"/>
                </a:solidFill>
                <a:latin typeface="Arial"/>
                <a:cs typeface="Arial"/>
              </a:rPr>
              <a:t>4,000 ريال / متحدث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3291840" y="0"/>
            <a:ext cx="914400" cy="118872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3000" b="1" i="0">
                <a:solidFill>
                  <a:srgbClr val="FFFFFF"/>
                </a:solidFill>
                <a:latin typeface="Arial"/>
                <a:cs typeface="Arial"/>
              </a:rPr>
              <a:t>التكاليف التقديرية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11548872" cy="4572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البند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المبلغ (ريال سعودي)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النوع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74519"/>
            <a:ext cx="11548872" cy="89611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874519"/>
            <a:ext cx="54864" cy="89611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75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رخصة تصريح إقامة الفعالية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0756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Arial"/>
                <a:cs typeface="Arial"/>
              </a:rPr>
              <a:t>5,000 ريال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62072"/>
            <a:ext cx="1154887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62072"/>
            <a:ext cx="54864" cy="89611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تكاليف مكتب الفعاليات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0632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Arial"/>
                <a:cs typeface="Arial"/>
              </a:rPr>
              <a:t>8,000 ريال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49624"/>
            <a:ext cx="11548872" cy="89611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849624"/>
            <a:ext cx="54864" cy="89611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50791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استضافة – الحد الأدنى  (70 × 280 ×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05079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Arial"/>
                <a:cs typeface="Arial"/>
              </a:rPr>
              <a:t>39,200 ريال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37176"/>
            <a:ext cx="11548872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837176"/>
            <a:ext cx="54864" cy="89611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3834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A33"/>
                </a:solidFill>
                <a:latin typeface="Arial"/>
                <a:cs typeface="Arial"/>
              </a:rPr>
              <a:t>استضافة – الحد الأعلى  (100 × 350 ×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03834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Arial"/>
                <a:cs typeface="Arial"/>
              </a:rPr>
              <a:t>70,000 ريال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806440"/>
            <a:ext cx="11548872" cy="5943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8064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إجمالي التكاليف المتوقعة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806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CF4"/>
                </a:solidFill>
                <a:latin typeface="Arial"/>
                <a:cs typeface="Arial"/>
              </a:rPr>
              <a:t>52,200  –  83,000 ريال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4AE"/>
                </a:solidFill>
                <a:latin typeface="Arial"/>
                <a:cs typeface="Arial"/>
              </a:rPr>
              <a:t>* التكاليف المتغيرة بناءً على الحضور المتوقع 70–100 شخص/يوم × يومين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3291840" y="0"/>
            <a:ext cx="914400" cy="1188720"/>
          </a:xfrm>
          <a:prstGeom prst="blockArc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01968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  <a:cs typeface="Arial"/>
              </a:rPr>
              <a:t>شركة العوفي والحربي   |   www.cla.sa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4592"/>
            <a:ext cx="82296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3000" b="1" i="0">
                <a:solidFill>
                  <a:srgbClr val="FFFFFF"/>
                </a:solidFill>
                <a:latin typeface="Arial"/>
                <a:cs typeface="Arial"/>
              </a:rPr>
              <a:t>الإيرادات المتوقعة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48872" cy="150876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64008" cy="1508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1A55"/>
                </a:solidFill>
                <a:latin typeface="Arial"/>
                <a:cs typeface="Arial"/>
              </a:rPr>
              <a:t>رعاة الجلسات الحوارية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E"/>
                </a:solidFill>
                <a:latin typeface="Arial"/>
                <a:cs typeface="Arial"/>
              </a:rPr>
              <a:t>10 جلسات  ×  10,000 ريال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691640"/>
            <a:ext cx="2560320" cy="7315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100,000 ريال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63240"/>
            <a:ext cx="11548872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063240"/>
            <a:ext cx="64008" cy="15087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1A55"/>
                </a:solidFill>
                <a:latin typeface="Arial"/>
                <a:cs typeface="Arial"/>
              </a:rPr>
              <a:t>المتحدثون المستقلون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E"/>
                </a:solidFill>
                <a:latin typeface="Arial"/>
                <a:cs typeface="Arial"/>
              </a:rPr>
              <a:t>10 جلسات  ×  2 متحدث  ×  4,000 ريال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383280"/>
            <a:ext cx="2560320" cy="7315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80,000 ريال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46320"/>
            <a:ext cx="11548872" cy="658368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7772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إجمالي الإيرادات المتوقعة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46320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CF4"/>
                </a:solidFill>
                <a:latin typeface="Arial"/>
                <a:cs typeface="Arial"/>
              </a:rPr>
              <a:t>180,000 ريال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650992"/>
            <a:ext cx="11548872" cy="713232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650992"/>
            <a:ext cx="64008" cy="713232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5099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1A55"/>
                </a:solidFill>
                <a:latin typeface="Arial"/>
                <a:cs typeface="Arial"/>
              </a:rPr>
              <a:t>صافي الفائض المتوقع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650992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087"/>
                </a:solidFill>
                <a:latin typeface="Arial"/>
                <a:cs typeface="Arial"/>
              </a:rPr>
              <a:t>97,000  –  127,800 ريال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4AE"/>
                </a:solidFill>
                <a:latin typeface="Arial"/>
                <a:cs typeface="Arial"/>
              </a:rPr>
              <a:t>* الأرقام تقديرية وقابلة للتعديل وفقاً للتفاوض مع الرعاة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5120640" y="0"/>
            <a:ext cx="1463040" cy="6858000"/>
          </a:xfrm>
          <a:prstGeom prst="blockArc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نتطلع إلى شراكة ناجحة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3200" b="1" i="0">
                <a:solidFill>
                  <a:srgbClr val="E8ECF4"/>
                </a:solidFill>
                <a:latin typeface="Arial"/>
                <a:cs typeface="Arial"/>
              </a:rPr>
              <a:t>وفعالية متميزة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03320"/>
            <a:ext cx="4114800" cy="45720"/>
          </a:xfrm>
          <a:prstGeom prst="rect">
            <a:avLst/>
          </a:prstGeom>
          <a:solidFill>
            <a:srgbClr val="1A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800" b="1" i="0">
                <a:solidFill>
                  <a:srgbClr val="FFFFFF"/>
                </a:solidFill>
                <a:latin typeface="Arial"/>
                <a:cs typeface="Arial"/>
              </a:rPr>
              <a:t>شركة العوفي والحربي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074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E"/>
                </a:solidFill>
                <a:latin typeface="Arial"/>
                <a:cs typeface="Arial"/>
              </a:rPr>
              <a:t>محاسبون ومراجعون قانونيون  •  عضو CLA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CF4"/>
                </a:solidFill>
                <a:latin typeface="Arial"/>
                <a:cs typeface="Arial"/>
              </a:rPr>
              <a:t>www.cla.sa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01A55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4AE"/>
                </a:solidFill>
                <a:latin typeface="Arial"/>
                <a:cs typeface="Arial"/>
              </a:rPr>
              <a:t>جلسات حوارية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337560"/>
            <a:ext cx="1920240" cy="45720"/>
          </a:xfrm>
          <a:prstGeom prst="rect">
            <a:avLst/>
          </a:prstGeom>
          <a:solidFill>
            <a:srgbClr val="E8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001A55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4AE"/>
                </a:solidFill>
                <a:latin typeface="Arial"/>
                <a:cs typeface="Arial"/>
              </a:rPr>
              <a:t>مدة الفعالية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