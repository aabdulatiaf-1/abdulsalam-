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217920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6217920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594360"/>
            <a:ext cx="1828800" cy="34747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94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623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  <a:cs typeface="Georgia"/>
              </a:rPr>
              <a:t>Working Lunch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5623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4"/>
                </a:solidFill>
                <a:latin typeface="Georgia"/>
                <a:cs typeface="Georgia"/>
              </a:rPr>
              <a:t>Specialised Internal Audit Dialogue 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91840"/>
            <a:ext cx="47548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493008"/>
            <a:ext cx="5623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Al-Awfi &amp; Al-Harbi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Georgia"/>
                <a:cs typeface="Georgia"/>
              </a:rPr>
              <a:t>Certified Public Accountants &amp; Legal Auditors  •  CLA Global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Georgia"/>
                <a:cs typeface="Georgia"/>
              </a:rPr>
              <a:t>www.cla.sa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914400"/>
            <a:ext cx="5029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914400"/>
            <a:ext cx="64008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005840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1A55"/>
                </a:solidFill>
                <a:latin typeface="Georgia"/>
                <a:cs typeface="Georgia"/>
              </a:rPr>
              <a:t>2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Georgia"/>
                <a:cs typeface="Georgia"/>
              </a:rPr>
              <a:t>Event 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606040"/>
            <a:ext cx="5029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2606040"/>
            <a:ext cx="64008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697480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1A55"/>
                </a:solidFill>
                <a:latin typeface="Georgia"/>
                <a:cs typeface="Georgia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Georgia"/>
                <a:cs typeface="Georgia"/>
              </a:rPr>
              <a:t>Dialogue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4297680"/>
            <a:ext cx="5029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0840" y="4297680"/>
            <a:ext cx="64008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4389120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1A55"/>
                </a:solidFill>
                <a:latin typeface="Georgia"/>
                <a:cs typeface="Georgia"/>
              </a:rPr>
              <a:t>70–100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120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Georgia"/>
                <a:cs typeface="Georgia"/>
              </a:rPr>
              <a:t>Attendees /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36576" cy="6858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97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1A55"/>
                </a:solidFill>
                <a:latin typeface="Georgia"/>
                <a:cs typeface="Georgia"/>
              </a:rPr>
              <a:t>Table of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58368"/>
            <a:ext cx="1078992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804672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80467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8138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Event Introduction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133856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188720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18872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19786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Meeting Benefits &amp; Target Audience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517904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572768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57276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5819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Event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1901952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1956816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9568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19659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1  –  Internal Audit &amp; Governance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286000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2340864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34086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23500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2  –  IPPF 2024 Standards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2670048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2724912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2491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273405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3  –  Enterprise Risk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054096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108960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10896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3118103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4  –  Digital Transformation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438144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3493008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49300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502151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5  –  Ethics &amp; Independence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3822191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804672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80467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8138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6  –  Risk-Based Auditing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1133856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1188720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18872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119786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7  –  Fraud &amp; Corruption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1517904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1572768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57276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5819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8  –  Internal Control Evaluation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1901952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1956816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195681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19659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9  –  Future of the Profession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286000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2340864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234086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235000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Session 10 –  Internal &amp; External Audit Integration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2670048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92240" y="2724912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272491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273405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Estimated Costs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3054096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3108960"/>
            <a:ext cx="384048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310896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3118103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Projected Revenue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438144"/>
            <a:ext cx="5669280" cy="1828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5486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  <a:cs typeface="Georgia"/>
              </a:rPr>
              <a:t>About the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51206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64008" cy="5120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1109167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09928"/>
            <a:ext cx="420624" cy="42062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099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36776"/>
            <a:ext cx="10241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The Working Lunch Event in Internal Auditing is a premium professional gathering organised and sponsored by Al-Awfi &amp; Al-Harbi – Certified Public Accountants &amp; Legal Auditors (CLA Global Member) – combining academic insight with practical application in an interactive setting.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81528"/>
            <a:ext cx="1109167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1109167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82696"/>
            <a:ext cx="420624" cy="42062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8269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09544"/>
            <a:ext cx="10241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The event spans two consecutive days and features ten specialised dialogue sessions, each addressing a pivotal theme in the internal audit profession through an engaging and enriching format.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54296"/>
            <a:ext cx="1109167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654296"/>
            <a:ext cx="1109167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855464"/>
            <a:ext cx="420624" cy="42062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5546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82312"/>
            <a:ext cx="10241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Every session is led by a specialist moderator from Al-Awfi &amp; Al-Harbi alongside a corporate sponsor and two independent speakers of recognised expertise and deep experience in their respective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5486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  <a:cs typeface="Georgia"/>
              </a:rPr>
              <a:t>Meeting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21024" cy="51206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621024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36210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Benefits for Attendees &amp; Participants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202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9202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1031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031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975104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Gain in-depth knowledge of the latest internal audit practices and 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28346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28346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175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0175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889504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Build a professional network with the elite of practitioners and auditors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3749039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3749039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9319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31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039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Discuss real-world challenges and draw solutions from domain experts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6634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46634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8463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8463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183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Earn Continuing Professional Education (CPE) hours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55778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" y="55778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7607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7607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327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Exposure to leading local and global best practices in the profession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87952" y="1325880"/>
            <a:ext cx="3621024" cy="51206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87952" y="1325880"/>
            <a:ext cx="3621024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87952" y="1325880"/>
            <a:ext cx="36210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Benefits for Sponsors &amp; Supporting Organisations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9202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19202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21031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21031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1975104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Enhance brand visibility among decision-makers and senior professionals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8346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97680" y="28346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0175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0175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2312" y="2889504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Target a high-calibre audience in a premium interactive environment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3749039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3749039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0" y="39319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3931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38039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Showcase products and services to a qualified, decision-making audience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80" y="46634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97680" y="46634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89120" y="48463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48463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82312" y="47183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Build strategic partnerships with Al-Awfi &amp; Al-Harbi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55778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97680" y="55778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89120" y="57607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0" y="57607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82312" y="56327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Establish thought leadership in the internal audit landscape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0144" y="1325880"/>
            <a:ext cx="3621024" cy="51206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10144" y="1325880"/>
            <a:ext cx="3621024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1325880"/>
            <a:ext cx="36210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Target Audience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1" y="19202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19871" y="19202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2" y="21031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11312" y="21031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04504" y="1975104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Audit committee chairs, members, and board directors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1" y="28346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19871" y="28346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2" y="30175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11312" y="30175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04504" y="2889504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Internal audit managers and professionals (public &amp; private sectors)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1" y="3749039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19871" y="3749039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11312" y="39319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11312" y="39319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04504" y="38039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External auditors and financial consultants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1" y="46634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19871" y="46634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11312" y="48463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11312" y="48463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04504" y="47183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Chief Compliance Officers and enterprise risk managers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19871" y="5577840"/>
            <a:ext cx="3401568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19871" y="5577840"/>
            <a:ext cx="45720" cy="7772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11312" y="5760720"/>
            <a:ext cx="329184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11312" y="57607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04504" y="5632703"/>
            <a:ext cx="2871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Academics and researchers in accounting and auditing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5486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  <a:cs typeface="Georgia"/>
              </a:rPr>
              <a:t>Event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724144" cy="516636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724144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5724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cs typeface="Georgia"/>
              </a:rPr>
              <a:t>Day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20240"/>
            <a:ext cx="563270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41264" y="2121408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21214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1  –  Internal Audit &amp; 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34640"/>
            <a:ext cx="5632704" cy="82296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8346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1264" y="3035808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30358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0175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2  –  IPPF 2024 Standards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49039"/>
            <a:ext cx="563270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749039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3950207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1264" y="395020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9319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3  –  Enterprise Risk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63440"/>
            <a:ext cx="5632704" cy="82296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6634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41264" y="4864607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41264" y="486460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8463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4  –  Digital Transformation &amp; Audit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577840"/>
            <a:ext cx="563270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5778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41264" y="5779007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41264" y="577900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7607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5  –  Ethics &amp; Independence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1325880"/>
            <a:ext cx="5724144" cy="516636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81928" y="1325880"/>
            <a:ext cx="5724144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1325880"/>
            <a:ext cx="5724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cs typeface="Georgia"/>
              </a:rPr>
              <a:t>Day Two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7648" y="1920240"/>
            <a:ext cx="563270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19202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57432" y="2121408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57432" y="21214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1031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6   –  Risk-Based Internal Auditing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2834640"/>
            <a:ext cx="5632704" cy="82296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27648" y="28346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57432" y="3035808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57432" y="30358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0175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7   –  Fraud &amp; Financial Corruption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27648" y="3749039"/>
            <a:ext cx="563270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27648" y="3749039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457432" y="3950207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57432" y="395020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9319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8   –  Internal Control (COSO)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4663440"/>
            <a:ext cx="5632704" cy="82296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27648" y="46634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57432" y="4864607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57432" y="486460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8463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9   –  Future of the Profession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7648" y="5577840"/>
            <a:ext cx="5632704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27648" y="5577840"/>
            <a:ext cx="45720" cy="8229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457432" y="5779007"/>
            <a:ext cx="402336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57432" y="5779007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5760720"/>
            <a:ext cx="49011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Georgia"/>
                <a:cs typeface="Georgia"/>
              </a:rPr>
              <a:t>Session 10  –  Internal &amp; External Audit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1   |  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The Role of Internal Audit in Enhancing Corporate Governance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Concept of corporate governance and Saudi regulatory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The internal auditor's role in supporting governance frameworks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The complementary relationship between internal audit and the 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Global best practices and success stories in audit governance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Applied models from leading Saudi sector organisations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2   |  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International Internal Auditing Standards (IPPF 2024) in the Saudi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Overview of the updated IPPF 2024 framework and key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Compliance requirements and local implementation approaches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Comparison between the old and new frameworks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Practical challenges in applying standards within Saudi organisations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A proposed roadmap for transitioning to the new framework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3   |  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Enterprise Risk Management and Its Impact on the Internal Audit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Enterprise Risk Management (ERM) framework and core pillars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Identifying and assessing material risks in the Saudi business 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Building the annual audit plan on a comprehensive risk-assessment basis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Aligning the risk map effectively with internal audit priorities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Measuring the effectiveness of risk responses and updating the audit plan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4   |  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Digital Transformation and Its Effect on the Internal Audit Profession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Artificial intelligence and big data analytics in auditing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Modern digital audit tools and their practical field applications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Information security auditing and infrastructure protection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Competency development requirements for auditors in the digital 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Opportunities and challenges of digital transformation for the profession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5   |  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Independence, Objectivity, and Ethics in Internal Auditing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IIA Code of Ethics and professional conduct standards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Organisational independence and individual objectivity – assurance mechanisms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Managing and resolving conflicts of interest professionally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The role of organisational culture in promoting integrity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Strengthening the auditor's standing and building stakeholder trust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6   |   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Risk-Based Internal Auditing – Methodology and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Risk-based internal auditing methodology and its theoretical reference framework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Building the engagement plan based on a comprehensive risk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Determining sample size and procedures according to risk level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Writing risk-based audit reports in a professional manner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Following up on recommendations and measuring the impact of audit programmes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7   |   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The Role of Internal Audit in Combating Fraud and Financial Corruption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Nature of financial fraud and early detection techniques in organisations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Fraud prevention framework and the internal auditor's pivotal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Internal investigation procedures and forensic evidence when fraud is suspected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Compliance with anti-fraud, anti-money-laundering and bribery regulations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Case studies from the Saudi and Arab business environment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8   |   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Evaluating Internal Control Effectiveness Based on the COSO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COSO internal control framework: five components and principles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Methodologies for assessing the effectiveness of control environments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Identifying material weaknesses and critical control deficiencies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Developing effective remediation plans and rigorously tracking implementation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Measuring the impact of internal control programmes on institutional performance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9   |   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The Future of the Internal Audit Profession Under Vision 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Current global trends shaping the internal audit profession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Impact of Vision 2030 and major economic reforms on the profession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Saudi labour market requirements for the competent future internal auditor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Professional development pathways and internationally recognised certifications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A forward-looking vision for internal auditing in the Kingdom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502920" cy="59436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Georgia"/>
                <a:cs typeface="Georgia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91440"/>
            <a:ext cx="11384280" cy="11155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91440"/>
            <a:ext cx="11384280" cy="36576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28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Georgia"/>
                <a:cs typeface="Georgia"/>
              </a:rPr>
              <a:t>Session  10   |   Day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0624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1A55"/>
                </a:solidFill>
                <a:latin typeface="Georgia"/>
                <a:cs typeface="Georgia"/>
              </a:rPr>
              <a:t>Integration Between Internal &amp; External Audit and the Audit Committee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243584"/>
            <a:ext cx="1138428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353312"/>
            <a:ext cx="7863840" cy="532180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353312"/>
            <a:ext cx="7863840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353312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Agenda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756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938528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Differences and methodological synergies between internal and external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2666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9504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Mechanisms for effective coordination between both field teams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30752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Third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384048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The audit committee's role in oversight, governance, and accountability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7863840" cy="9509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81728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2861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Fourth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791456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Eliminating duplication and maximising shared added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32704"/>
            <a:ext cx="45720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879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Fifth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574243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A33"/>
                </a:solidFill>
                <a:latin typeface="Georgia"/>
                <a:cs typeface="Georgia"/>
              </a:rPr>
              <a:t>Successful models of collaboration and joint working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1353312"/>
            <a:ext cx="3410712" cy="532180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41080" y="1353312"/>
            <a:ext cx="341071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426464"/>
            <a:ext cx="3410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Session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9202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Dialogue Moderator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231136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[Moderator Name]
Al-Awfi &amp; Al-Harbi Office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3054096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Session Sponsor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[Sponsor Organisation]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8404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Sponsorship Fee: SAR 10,000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426110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72000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Georgia"/>
                <a:cs typeface="Georgia"/>
              </a:rPr>
              <a:t>[Speaker 1]
[Speaker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266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Georgia"/>
                <a:cs typeface="Georgia"/>
              </a:rPr>
              <a:t>SAR 4,000 / speaker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5486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  <a:cs typeface="Georgia"/>
              </a:rPr>
              <a:t>Estimated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438912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3258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Amount (SAR)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13258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  <a:cs typeface="Georgia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56231"/>
            <a:ext cx="11457432" cy="9144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56231"/>
            <a:ext cx="54864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1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Event Permit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84831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Georgia"/>
                <a:cs typeface="Georgia"/>
              </a:rPr>
              <a:t>SAR 5,000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17352" y="2112263"/>
            <a:ext cx="7772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17352" y="2112263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Fixed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80360"/>
            <a:ext cx="1145743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880360"/>
            <a:ext cx="54864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Event Office 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1089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Georgia"/>
                <a:cs typeface="Georgia"/>
              </a:rPr>
              <a:t>SAR 8,000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17352" y="3136391"/>
            <a:ext cx="7772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17352" y="3136391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Fixed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04487"/>
            <a:ext cx="11457432" cy="9144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904487"/>
            <a:ext cx="54864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33087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Hospitality – Minimum  (70 × 280 × 2 days)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133087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Georgia"/>
                <a:cs typeface="Georgia"/>
              </a:rPr>
              <a:t>SAR 39,200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17352" y="4160520"/>
            <a:ext cx="7772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416052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Variable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28616"/>
            <a:ext cx="1145743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928616"/>
            <a:ext cx="54864" cy="9144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5721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Georgia"/>
                <a:cs typeface="Georgia"/>
              </a:rPr>
              <a:t>Hospitality – Maximum  (100 × 350 × 2 days)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15721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Georgia"/>
                <a:cs typeface="Georgia"/>
              </a:rPr>
              <a:t>SAR 70,000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17352" y="5184648"/>
            <a:ext cx="7772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17352" y="51846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  <a:cs typeface="Georgia"/>
              </a:rPr>
              <a:t>Variable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89320"/>
            <a:ext cx="1145743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  <a:cs typeface="Georgia"/>
              </a:rPr>
              <a:t>Total Estimated Costs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989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CF4"/>
                </a:solidFill>
                <a:latin typeface="Georgia"/>
                <a:cs typeface="Georgia"/>
              </a:rPr>
              <a:t>SAR 52,200  –  83,000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4AE"/>
                </a:solidFill>
                <a:latin typeface="Georgia"/>
                <a:cs typeface="Georgia"/>
              </a:rPr>
              <a:t>* Variable costs based on expected attendance of 70–100 per day × 2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54864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  <a:cs typeface="Georgia"/>
              </a:rPr>
              <a:t>Projected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Georgia"/>
                <a:cs typeface="Georgia"/>
              </a:rPr>
              <a:t>Al-Awfi &amp; Al-Harbi   | 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57276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64008" cy="157276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1A55"/>
                </a:solidFill>
                <a:latin typeface="Georgia"/>
                <a:cs typeface="Georgia"/>
              </a:rPr>
              <a:t>Session Sponsors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E"/>
                </a:solidFill>
                <a:latin typeface="Georgia"/>
                <a:cs typeface="Georgia"/>
              </a:rPr>
              <a:t>10 sessions × SAR 10,000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755648"/>
            <a:ext cx="2468880" cy="685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7556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cs typeface="Georgia"/>
              </a:rPr>
              <a:t>SAR 100,000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145743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64008" cy="157276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1A55"/>
                </a:solidFill>
                <a:latin typeface="Georgia"/>
                <a:cs typeface="Georgia"/>
              </a:rPr>
              <a:t>Independent Speakers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E"/>
                </a:solidFill>
                <a:latin typeface="Georgia"/>
                <a:cs typeface="Georgia"/>
              </a:rPr>
              <a:t>10 sessions × 2 speakers × SAR 4,000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493008"/>
            <a:ext cx="2468880" cy="685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4930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cs typeface="Georgia"/>
              </a:rPr>
              <a:t>SAR 80,000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80"/>
            <a:ext cx="11457432" cy="621792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7772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cs typeface="Georgia"/>
              </a:rPr>
              <a:t>Total Projected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98348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CF4"/>
                </a:solidFill>
                <a:latin typeface="Georgia"/>
                <a:cs typeface="Georgia"/>
              </a:rPr>
              <a:t>SAR 180,000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42432"/>
            <a:ext cx="11457432" cy="6858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742432"/>
            <a:ext cx="64008" cy="6858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4243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A55"/>
                </a:solidFill>
                <a:latin typeface="Georgia"/>
                <a:cs typeface="Georgia"/>
              </a:rPr>
              <a:t>Expected Net Surplus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7424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Georgia"/>
                <a:cs typeface="Georgia"/>
              </a:rPr>
              <a:t>SAR 97,000  –  127,800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4AE"/>
                </a:solidFill>
                <a:latin typeface="Georgia"/>
                <a:cs typeface="Georgia"/>
              </a:rPr>
              <a:t>* Figures are estimates subject to negotiation with sponsors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0"/>
            <a:ext cx="45720" cy="685800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  <a:cs typeface="Georgia"/>
              </a:rPr>
              <a:t>We look forward to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52928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ECF4"/>
                </a:solidFill>
                <a:latin typeface="Georgia"/>
                <a:cs typeface="Georgia"/>
              </a:rPr>
              <a:t>successful partnership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4572000" cy="4572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  <a:cs typeface="Georgia"/>
              </a:rPr>
              <a:t>Al-Awfi &amp; Al-Harbi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62272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Georgia"/>
                <a:cs typeface="Georgia"/>
              </a:rPr>
              <a:t>Certified Public Accountants &amp; Legal Auditors  •  CLA Global 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02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4"/>
                </a:solidFill>
                <a:latin typeface="Georgia"/>
                <a:cs typeface="Georgia"/>
              </a:rPr>
              <a:t>www.cla.sa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1887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001A55"/>
                </a:solidFill>
                <a:latin typeface="Georgia"/>
                <a:cs typeface="Georgia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87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94AE"/>
                </a:solidFill>
                <a:latin typeface="Georgia"/>
                <a:cs typeface="Georgia"/>
              </a:rPr>
              <a:t>Dialogue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127248"/>
            <a:ext cx="2286000" cy="4572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3375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01A55"/>
                </a:solidFill>
                <a:latin typeface="Georgia"/>
                <a:cs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94AE"/>
                </a:solidFill>
                <a:latin typeface="Georgia"/>
                <a:cs typeface="Georgia"/>
              </a:rPr>
              <a:t>Event Duration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