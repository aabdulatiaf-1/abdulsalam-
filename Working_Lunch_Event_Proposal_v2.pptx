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675120" cy="6858000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lock Arc 3"/>
          <p:cNvSpPr/>
          <p:nvPr/>
        </p:nvSpPr>
        <p:spPr>
          <a:xfrm>
            <a:off x="5852160" y="0"/>
            <a:ext cx="1371600" cy="6858000"/>
          </a:xfrm>
          <a:prstGeom prst="blockArc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394960"/>
            <a:ext cx="6675120" cy="73152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94360"/>
            <a:ext cx="2011680" cy="384048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943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cs typeface="Calibri"/>
              </a:rPr>
              <a:t>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6035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  <a:cs typeface="Calibri"/>
              </a:rPr>
              <a:t>Working Lunch Event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560320"/>
            <a:ext cx="6035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ECF4"/>
                </a:solidFill>
                <a:latin typeface="Calibri"/>
                <a:cs typeface="Calibri"/>
              </a:rPr>
              <a:t>Internal Audit Dialogue Sessions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310128"/>
            <a:ext cx="50292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493008"/>
            <a:ext cx="6035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cs typeface="Calibri"/>
              </a:rPr>
              <a:t>Al-Awfi &amp; Al-Harbi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096512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4AE"/>
                </a:solidFill>
                <a:latin typeface="Calibri"/>
                <a:cs typeface="Calibri"/>
              </a:rPr>
              <a:t>Certified Public Accountants &amp; Legal Auditors  •  CLA Global Member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12648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CF4"/>
                </a:solidFill>
                <a:latin typeface="Calibri"/>
                <a:cs typeface="Calibri"/>
              </a:rPr>
              <a:t>www.cla.sa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914400"/>
            <a:ext cx="411480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89520" y="914400"/>
            <a:ext cx="73152" cy="1417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1024128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1A55"/>
                </a:solidFill>
                <a:latin typeface="Calibri"/>
                <a:cs typeface="Calibri"/>
              </a:rPr>
              <a:t>2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171907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4AE"/>
                </a:solidFill>
                <a:latin typeface="Calibri"/>
                <a:cs typeface="Calibri"/>
              </a:rPr>
              <a:t>Event Duration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2606040"/>
            <a:ext cx="411480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89520" y="2606040"/>
            <a:ext cx="73152" cy="1417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2715768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1A55"/>
                </a:solidFill>
                <a:latin typeface="Calibri"/>
                <a:cs typeface="Calibri"/>
              </a:rPr>
              <a:t>10 Sessions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41071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4AE"/>
                </a:solidFill>
                <a:latin typeface="Calibri"/>
                <a:cs typeface="Calibri"/>
              </a:rPr>
              <a:t>Dialogue Sessions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0" y="4297680"/>
            <a:ext cx="411480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89520" y="4297680"/>
            <a:ext cx="73152" cy="1417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4407408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1A55"/>
                </a:solidFill>
                <a:latin typeface="Calibri"/>
                <a:cs typeface="Calibri"/>
              </a:rPr>
              <a:t>70 – 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510235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4AE"/>
                </a:solidFill>
                <a:latin typeface="Calibri"/>
                <a:cs typeface="Calibri"/>
              </a:rPr>
              <a:t>Attendees / Day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lock Arc 3"/>
          <p:cNvSpPr/>
          <p:nvPr/>
        </p:nvSpPr>
        <p:spPr>
          <a:xfrm>
            <a:off x="3291840" y="0"/>
            <a:ext cx="914400" cy="1188720"/>
          </a:xfrm>
          <a:prstGeom prst="blockArc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cs typeface="Calibri"/>
              </a:rPr>
              <a:t>Al-Awfi &amp; Al-Harbi   |   www.cla.sa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4592"/>
            <a:ext cx="82296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  <a:cs typeface="Calibri"/>
              </a:rPr>
              <a:t>Event 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3657600" cy="192024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3657600" cy="6400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1A55"/>
                </a:solidFill>
                <a:latin typeface="Calibri"/>
                <a:cs typeface="Calibri"/>
              </a:rPr>
              <a:t>2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30428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94AE"/>
                </a:solidFill>
                <a:latin typeface="Calibri"/>
                <a:cs typeface="Calibri"/>
              </a:rPr>
              <a:t>Event Duration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0248" y="1371600"/>
            <a:ext cx="3657600" cy="192024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0248" y="1371600"/>
            <a:ext cx="3657600" cy="6400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150876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1A55"/>
                </a:solidFill>
                <a:latin typeface="Calibri"/>
                <a:cs typeface="Calibri"/>
              </a:rPr>
              <a:t>10 Sessions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0248" y="230428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94AE"/>
                </a:solidFill>
                <a:latin typeface="Calibri"/>
                <a:cs typeface="Calibri"/>
              </a:rPr>
              <a:t>Dialogue Sessions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74736" y="1371600"/>
            <a:ext cx="3657600" cy="192024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74736" y="1371600"/>
            <a:ext cx="3657600" cy="6400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4736" y="150876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1A55"/>
                </a:solidFill>
                <a:latin typeface="Calibri"/>
                <a:cs typeface="Calibri"/>
              </a:rPr>
              <a:t>70 – 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6" y="230428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94AE"/>
                </a:solidFill>
                <a:latin typeface="Calibri"/>
                <a:cs typeface="Calibri"/>
              </a:rPr>
              <a:t>Attendees / Day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520440"/>
            <a:ext cx="11457432" cy="27432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520440"/>
            <a:ext cx="64008" cy="27432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703320"/>
            <a:ext cx="110642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0">
                <a:solidFill>
                  <a:srgbClr val="0D1A33"/>
                </a:solidFill>
                <a:latin typeface="Calibri"/>
                <a:cs typeface="Calibri"/>
              </a:rPr>
              <a:t>The event aims to bring together leading professionals and specialists in internal auditing in a dynamic, interactive setting.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0D1A33"/>
                </a:solidFill>
                <a:latin typeface="Calibri"/>
                <a:cs typeface="Calibri"/>
              </a:rPr>
              <a:t>It comprises ten specialised dialogue sessions spread equally over two consecutive days, covering key professional topics.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0D1A33"/>
                </a:solidFill>
                <a:latin typeface="Calibri"/>
                <a:cs typeface="Calibri"/>
              </a:rPr>
              <a:t>Each session is moderated by a specialist from Al-Awfi &amp; Al-Harbi, alongside a corporate sponsor and two independent speakers.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0D1A33"/>
                </a:solidFill>
                <a:latin typeface="Calibri"/>
                <a:cs typeface="Calibri"/>
              </a:rPr>
              <a:t>Sponsors and speakers gain a platform to strengthen their professional profile and expand their network.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lock Arc 3"/>
          <p:cNvSpPr/>
          <p:nvPr/>
        </p:nvSpPr>
        <p:spPr>
          <a:xfrm>
            <a:off x="3291840" y="0"/>
            <a:ext cx="914400" cy="1188720"/>
          </a:xfrm>
          <a:prstGeom prst="blockArc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cs typeface="Calibri"/>
              </a:rPr>
              <a:t>Al-Awfi &amp; Al-Harbi   |   www.cla.sa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4592"/>
            <a:ext cx="82296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  <a:cs typeface="Calibri"/>
              </a:rPr>
              <a:t>Event Structure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53312"/>
            <a:ext cx="5760720" cy="5486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353312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cs typeface="Calibri"/>
              </a:rPr>
              <a:t>Day 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993392"/>
            <a:ext cx="5760720" cy="80467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32120" y="2167128"/>
            <a:ext cx="438912" cy="43891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32120" y="216712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2139696"/>
            <a:ext cx="4983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A33"/>
                </a:solidFill>
                <a:latin typeface="Calibri"/>
                <a:cs typeface="Calibri"/>
              </a:rPr>
              <a:t>Session 1  –  Internal Audit &amp; Corporate Governance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889504"/>
            <a:ext cx="57607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32120" y="3063240"/>
            <a:ext cx="438912" cy="43891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32120" y="306324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3035808"/>
            <a:ext cx="4983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A33"/>
                </a:solidFill>
                <a:latin typeface="Calibri"/>
                <a:cs typeface="Calibri"/>
              </a:rPr>
              <a:t>Session 2  –  International Standards IPPF 2024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785616"/>
            <a:ext cx="5760720" cy="80467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32120" y="3959352"/>
            <a:ext cx="438912" cy="43891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32120" y="395935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3931920"/>
            <a:ext cx="4983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A33"/>
                </a:solidFill>
                <a:latin typeface="Calibri"/>
                <a:cs typeface="Calibri"/>
              </a:rPr>
              <a:t>Session 3  –  Enterprise Risk Management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681728"/>
            <a:ext cx="57607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32120" y="4855464"/>
            <a:ext cx="438912" cy="43891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32120" y="485546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" y="4828032"/>
            <a:ext cx="4983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A33"/>
                </a:solidFill>
                <a:latin typeface="Calibri"/>
                <a:cs typeface="Calibri"/>
              </a:rPr>
              <a:t>Session 4  –  Digital Transformation &amp; Audit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577840"/>
            <a:ext cx="5760720" cy="80467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532120" y="5751576"/>
            <a:ext cx="438912" cy="43891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32120" y="5751576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" y="5724144"/>
            <a:ext cx="4983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A33"/>
                </a:solidFill>
                <a:latin typeface="Calibri"/>
                <a:cs typeface="Calibri"/>
              </a:rPr>
              <a:t>Session 5  –  Ethics &amp; Independence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54496" y="1353312"/>
            <a:ext cx="5760720" cy="5486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54496" y="1353312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cs typeface="Calibri"/>
              </a:rPr>
              <a:t>Day Two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54496" y="1993392"/>
            <a:ext cx="5760720" cy="80467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466576" y="2167128"/>
            <a:ext cx="438912" cy="43891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66576" y="216712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4224" y="2139696"/>
            <a:ext cx="4983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A33"/>
                </a:solidFill>
                <a:latin typeface="Calibri"/>
                <a:cs typeface="Calibri"/>
              </a:rPr>
              <a:t>Session 6   –  Risk-Based Internal Auditing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54496" y="2889504"/>
            <a:ext cx="57607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466576" y="3063240"/>
            <a:ext cx="438912" cy="43891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66576" y="306324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cs typeface="Calibri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4224" y="3035808"/>
            <a:ext cx="4983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A33"/>
                </a:solidFill>
                <a:latin typeface="Calibri"/>
                <a:cs typeface="Calibri"/>
              </a:rPr>
              <a:t>Session 7   –  Fraud &amp; Financial Corruption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54496" y="3785616"/>
            <a:ext cx="5760720" cy="80467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466576" y="3959352"/>
            <a:ext cx="438912" cy="43891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66576" y="395935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cs typeface="Calibri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64224" y="3931920"/>
            <a:ext cx="4983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A33"/>
                </a:solidFill>
                <a:latin typeface="Calibri"/>
                <a:cs typeface="Calibri"/>
              </a:rPr>
              <a:t>Session 8   –  Internal Control Evaluation (COSO)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54496" y="4681728"/>
            <a:ext cx="57607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466576" y="4855464"/>
            <a:ext cx="438912" cy="43891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66576" y="485546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cs typeface="Calibri"/>
              </a:rPr>
              <a:t>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64224" y="4828032"/>
            <a:ext cx="4983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A33"/>
                </a:solidFill>
                <a:latin typeface="Calibri"/>
                <a:cs typeface="Calibri"/>
              </a:rPr>
              <a:t>Session 9   –  Future of the Profession &amp; Vision 2030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54496" y="5577840"/>
            <a:ext cx="5760720" cy="80467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466576" y="5751576"/>
            <a:ext cx="438912" cy="43891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66576" y="5751576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64224" y="5724144"/>
            <a:ext cx="4983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A33"/>
                </a:solidFill>
                <a:latin typeface="Calibri"/>
                <a:cs typeface="Calibri"/>
              </a:rPr>
              <a:t>Session 10  –  Internal &amp; External Audit Integration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0"/>
            <a:ext cx="548640" cy="5486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548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1704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ECF4"/>
                </a:solidFill>
                <a:latin typeface="Calibri"/>
                <a:cs typeface="Calibri"/>
              </a:rPr>
              <a:t>D1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cs typeface="Calibri"/>
              </a:rPr>
              <a:t>Al-Awfi &amp; Al-Harbi   |   www.cla.sa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09728"/>
            <a:ext cx="11338560" cy="117043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37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A8"/>
                </a:solidFill>
                <a:latin typeface="Calibri"/>
                <a:cs typeface="Calibri"/>
              </a:rPr>
              <a:t>Session 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137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4AE"/>
                </a:solidFill>
                <a:latin typeface="Calibri"/>
                <a:cs typeface="Calibri"/>
              </a:rPr>
              <a:t>Day 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1A55"/>
                </a:solidFill>
                <a:latin typeface="Calibri"/>
                <a:cs typeface="Calibri"/>
              </a:rPr>
              <a:t>The Role of Internal Audit in Enhancing Corporate Governance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1325880"/>
            <a:ext cx="11338560" cy="3657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417320"/>
            <a:ext cx="7818120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4630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  <a:latin typeface="Calibri"/>
                <a:cs typeface="Calibri"/>
              </a:rPr>
              <a:t>Session Agenda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1901952"/>
            <a:ext cx="7818120" cy="36576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1956816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" y="2176272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17627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cs typeface="Calibri"/>
              </a:rPr>
              <a:t>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19072" y="2066544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Calibri"/>
                <a:cs typeface="Calibri"/>
              </a:rPr>
              <a:t>Concept of corporate governance and Saudi regulatory requirements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081528"/>
            <a:ext cx="7818120" cy="107899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118104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" y="3337560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333756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cs typeface="Calibri"/>
              </a:rPr>
              <a:t>Second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19072" y="3227832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Calibri"/>
                <a:cs typeface="Calibri"/>
              </a:rPr>
              <a:t>The internal auditor's role in supporting governance frameworks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279392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" y="4498848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449884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cs typeface="Calibri"/>
              </a:rPr>
              <a:t>Third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19072" y="438912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Calibri"/>
                <a:cs typeface="Calibri"/>
              </a:rPr>
              <a:t>The complementary relationship between internal audit and the board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5404104"/>
            <a:ext cx="7818120" cy="107899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5440680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" y="5660136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566013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cs typeface="Calibri"/>
              </a:rPr>
              <a:t>Fourth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19072" y="5550408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Calibri"/>
                <a:cs typeface="Calibri"/>
              </a:rPr>
              <a:t>Global best practices in internal audit governance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41080" y="1417320"/>
            <a:ext cx="3410712" cy="498348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41080" y="1417320"/>
            <a:ext cx="3410712" cy="5486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41080" y="1481328"/>
            <a:ext cx="3410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1A55"/>
                </a:solidFill>
                <a:latin typeface="Calibri"/>
                <a:cs typeface="Calibri"/>
              </a:rPr>
              <a:t>Session Team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32520" y="2011680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32520" y="2011680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Calibri"/>
                <a:cs typeface="Calibri"/>
              </a:rPr>
              <a:t>Dialogue Moderator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32520" y="2340864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Calibri"/>
                <a:cs typeface="Calibri"/>
              </a:rPr>
              <a:t>[Moderator Name]
Al-Awfi &amp; Al-Harbi Office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32520" y="3163824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32520" y="3163824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Calibri"/>
                <a:cs typeface="Calibri"/>
              </a:rPr>
              <a:t>Session Sponsor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3493008"/>
            <a:ext cx="32278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Calibri"/>
                <a:cs typeface="Calibri"/>
              </a:rPr>
              <a:t>[Sponsor Organization]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4041648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Calibri"/>
                <a:cs typeface="Calibri"/>
              </a:rPr>
              <a:t>Sponsorship Fee: SAR 10,000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32520" y="4498848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32520" y="4498848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Calibri"/>
                <a:cs typeface="Calibri"/>
              </a:rPr>
              <a:t>Independent Speakers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4828032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Calibri"/>
                <a:cs typeface="Calibri"/>
              </a:rPr>
              <a:t>[Speaker 1]
[Speaker 2]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5541264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Calibri"/>
                <a:cs typeface="Calibri"/>
              </a:rPr>
              <a:t>SAR 4,000 / speaker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0"/>
            <a:ext cx="548640" cy="5486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548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1704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ECF4"/>
                </a:solidFill>
                <a:latin typeface="Calibri"/>
                <a:cs typeface="Calibri"/>
              </a:rPr>
              <a:t>D1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cs typeface="Calibri"/>
              </a:rPr>
              <a:t>Al-Awfi &amp; Al-Harbi   |   www.cla.sa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09728"/>
            <a:ext cx="11338560" cy="117043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37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A8"/>
                </a:solidFill>
                <a:latin typeface="Calibri"/>
                <a:cs typeface="Calibri"/>
              </a:rPr>
              <a:t>Session 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137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4AE"/>
                </a:solidFill>
                <a:latin typeface="Calibri"/>
                <a:cs typeface="Calibri"/>
              </a:rPr>
              <a:t>Day 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1A55"/>
                </a:solidFill>
                <a:latin typeface="Calibri"/>
                <a:cs typeface="Calibri"/>
              </a:rPr>
              <a:t>International Internal Auditing Standards (IPPF 2024) in the Saudi Context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1325880"/>
            <a:ext cx="11338560" cy="3657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417320"/>
            <a:ext cx="7818120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4630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  <a:latin typeface="Calibri"/>
                <a:cs typeface="Calibri"/>
              </a:rPr>
              <a:t>Session Agenda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1901952"/>
            <a:ext cx="7818120" cy="36576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1956816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" y="2176272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17627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cs typeface="Calibri"/>
              </a:rPr>
              <a:t>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19072" y="2066544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Calibri"/>
                <a:cs typeface="Calibri"/>
              </a:rPr>
              <a:t>Overview of the updated IPPF 2024 framework and key changes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081528"/>
            <a:ext cx="7818120" cy="107899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118104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" y="3337560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333756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cs typeface="Calibri"/>
              </a:rPr>
              <a:t>Second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19072" y="3227832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Calibri"/>
                <a:cs typeface="Calibri"/>
              </a:rPr>
              <a:t>Compliance requirements and local implementation approaches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279392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" y="4498848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449884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cs typeface="Calibri"/>
              </a:rPr>
              <a:t>Third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19072" y="438912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Calibri"/>
                <a:cs typeface="Calibri"/>
              </a:rPr>
              <a:t>Comparison between the old and new frameworks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5404104"/>
            <a:ext cx="7818120" cy="107899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5440680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" y="5660136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566013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cs typeface="Calibri"/>
              </a:rPr>
              <a:t>Fourth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19072" y="5550408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Calibri"/>
                <a:cs typeface="Calibri"/>
              </a:rPr>
              <a:t>Implementing standards efficiently within Saudi organisations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41080" y="1417320"/>
            <a:ext cx="3410712" cy="498348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41080" y="1417320"/>
            <a:ext cx="3410712" cy="5486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41080" y="1481328"/>
            <a:ext cx="3410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1A55"/>
                </a:solidFill>
                <a:latin typeface="Calibri"/>
                <a:cs typeface="Calibri"/>
              </a:rPr>
              <a:t>Session Team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32520" y="2011680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32520" y="2011680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Calibri"/>
                <a:cs typeface="Calibri"/>
              </a:rPr>
              <a:t>Dialogue Moderator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32520" y="2340864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Calibri"/>
                <a:cs typeface="Calibri"/>
              </a:rPr>
              <a:t>[Moderator Name]
Al-Awfi &amp; Al-Harbi Office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32520" y="3163824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32520" y="3163824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Calibri"/>
                <a:cs typeface="Calibri"/>
              </a:rPr>
              <a:t>Session Sponsor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3493008"/>
            <a:ext cx="32278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Calibri"/>
                <a:cs typeface="Calibri"/>
              </a:rPr>
              <a:t>[Sponsor Organization]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4041648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Calibri"/>
                <a:cs typeface="Calibri"/>
              </a:rPr>
              <a:t>Sponsorship Fee: SAR 10,000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32520" y="4498848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32520" y="4498848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Calibri"/>
                <a:cs typeface="Calibri"/>
              </a:rPr>
              <a:t>Independent Speakers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4828032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Calibri"/>
                <a:cs typeface="Calibri"/>
              </a:rPr>
              <a:t>[Speaker 1]
[Speaker 2]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5541264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Calibri"/>
                <a:cs typeface="Calibri"/>
              </a:rPr>
              <a:t>SAR 4,000 / speaker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0"/>
            <a:ext cx="548640" cy="5486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548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1704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ECF4"/>
                </a:solidFill>
                <a:latin typeface="Calibri"/>
                <a:cs typeface="Calibri"/>
              </a:rPr>
              <a:t>D1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cs typeface="Calibri"/>
              </a:rPr>
              <a:t>Al-Awfi &amp; Al-Harbi   |   www.cla.sa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09728"/>
            <a:ext cx="11338560" cy="117043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37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A8"/>
                </a:solidFill>
                <a:latin typeface="Calibri"/>
                <a:cs typeface="Calibri"/>
              </a:rPr>
              <a:t>Session 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137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4AE"/>
                </a:solidFill>
                <a:latin typeface="Calibri"/>
                <a:cs typeface="Calibri"/>
              </a:rPr>
              <a:t>Day 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1A55"/>
                </a:solidFill>
                <a:latin typeface="Calibri"/>
                <a:cs typeface="Calibri"/>
              </a:rPr>
              <a:t>Enterprise Risk Management and Its Impact on the Internal Audit Plan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1325880"/>
            <a:ext cx="11338560" cy="3657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417320"/>
            <a:ext cx="7818120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4630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  <a:latin typeface="Calibri"/>
                <a:cs typeface="Calibri"/>
              </a:rPr>
              <a:t>Session Agenda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1901952"/>
            <a:ext cx="7818120" cy="36576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1956816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" y="2176272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17627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cs typeface="Calibri"/>
              </a:rPr>
              <a:t>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19072" y="2066544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Calibri"/>
                <a:cs typeface="Calibri"/>
              </a:rPr>
              <a:t>Enterprise Risk Management (ERM) framework and core pillars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081528"/>
            <a:ext cx="7818120" cy="107899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118104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" y="3337560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333756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cs typeface="Calibri"/>
              </a:rPr>
              <a:t>Second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19072" y="3227832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Calibri"/>
                <a:cs typeface="Calibri"/>
              </a:rPr>
              <a:t>Identifying and assessing material risks in organisations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279392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" y="4498848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449884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cs typeface="Calibri"/>
              </a:rPr>
              <a:t>Third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19072" y="438912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Calibri"/>
                <a:cs typeface="Calibri"/>
              </a:rPr>
              <a:t>Building the annual audit plan on a risk-assessment basis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5404104"/>
            <a:ext cx="7818120" cy="107899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5440680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" y="5660136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566013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cs typeface="Calibri"/>
              </a:rPr>
              <a:t>Fourth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19072" y="5550408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Calibri"/>
                <a:cs typeface="Calibri"/>
              </a:rPr>
              <a:t>Aligning the risk map with internal audit priorities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41080" y="1417320"/>
            <a:ext cx="3410712" cy="498348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41080" y="1417320"/>
            <a:ext cx="3410712" cy="5486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41080" y="1481328"/>
            <a:ext cx="3410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1A55"/>
                </a:solidFill>
                <a:latin typeface="Calibri"/>
                <a:cs typeface="Calibri"/>
              </a:rPr>
              <a:t>Session Team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32520" y="2011680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32520" y="2011680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Calibri"/>
                <a:cs typeface="Calibri"/>
              </a:rPr>
              <a:t>Dialogue Moderator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32520" y="2340864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Calibri"/>
                <a:cs typeface="Calibri"/>
              </a:rPr>
              <a:t>[Moderator Name]
Al-Awfi &amp; Al-Harbi Office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32520" y="3163824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32520" y="3163824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Calibri"/>
                <a:cs typeface="Calibri"/>
              </a:rPr>
              <a:t>Session Sponsor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3493008"/>
            <a:ext cx="32278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Calibri"/>
                <a:cs typeface="Calibri"/>
              </a:rPr>
              <a:t>[Sponsor Organization]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4041648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Calibri"/>
                <a:cs typeface="Calibri"/>
              </a:rPr>
              <a:t>Sponsorship Fee: SAR 10,000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32520" y="4498848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32520" y="4498848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Calibri"/>
                <a:cs typeface="Calibri"/>
              </a:rPr>
              <a:t>Independent Speakers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4828032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Calibri"/>
                <a:cs typeface="Calibri"/>
              </a:rPr>
              <a:t>[Speaker 1]
[Speaker 2]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5541264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Calibri"/>
                <a:cs typeface="Calibri"/>
              </a:rPr>
              <a:t>SAR 4,000 / speaker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0"/>
            <a:ext cx="548640" cy="5486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548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1704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ECF4"/>
                </a:solidFill>
                <a:latin typeface="Calibri"/>
                <a:cs typeface="Calibri"/>
              </a:rPr>
              <a:t>D1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cs typeface="Calibri"/>
              </a:rPr>
              <a:t>Al-Awfi &amp; Al-Harbi   |   www.cla.sa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09728"/>
            <a:ext cx="11338560" cy="117043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37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A8"/>
                </a:solidFill>
                <a:latin typeface="Calibri"/>
                <a:cs typeface="Calibri"/>
              </a:rPr>
              <a:t>Session 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137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4AE"/>
                </a:solidFill>
                <a:latin typeface="Calibri"/>
                <a:cs typeface="Calibri"/>
              </a:rPr>
              <a:t>Day 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1A55"/>
                </a:solidFill>
                <a:latin typeface="Calibri"/>
                <a:cs typeface="Calibri"/>
              </a:rPr>
              <a:t>Digital Transformation and Its Effect on the Internal Audit Profession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1325880"/>
            <a:ext cx="11338560" cy="3657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417320"/>
            <a:ext cx="7818120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4630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  <a:latin typeface="Calibri"/>
                <a:cs typeface="Calibri"/>
              </a:rPr>
              <a:t>Session Agenda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1901952"/>
            <a:ext cx="7818120" cy="36576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1956816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" y="2176272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17627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cs typeface="Calibri"/>
              </a:rPr>
              <a:t>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19072" y="2066544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Calibri"/>
                <a:cs typeface="Calibri"/>
              </a:rPr>
              <a:t>Artificial intelligence and big data analytics in auditing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081528"/>
            <a:ext cx="7818120" cy="107899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118104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" y="3337560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333756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cs typeface="Calibri"/>
              </a:rPr>
              <a:t>Second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19072" y="3227832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Calibri"/>
                <a:cs typeface="Calibri"/>
              </a:rPr>
              <a:t>Modern digital audit tools and their practical applications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279392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" y="4498848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449884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cs typeface="Calibri"/>
              </a:rPr>
              <a:t>Third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19072" y="438912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Calibri"/>
                <a:cs typeface="Calibri"/>
              </a:rPr>
              <a:t>Information security auditing and infrastructure protection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5404104"/>
            <a:ext cx="7818120" cy="107899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5440680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" y="5660136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566013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cs typeface="Calibri"/>
              </a:rPr>
              <a:t>Fourth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19072" y="5550408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Calibri"/>
                <a:cs typeface="Calibri"/>
              </a:rPr>
              <a:t>Opportunities and challenges of digital transformation for auditors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41080" y="1417320"/>
            <a:ext cx="3410712" cy="498348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41080" y="1417320"/>
            <a:ext cx="3410712" cy="5486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41080" y="1481328"/>
            <a:ext cx="3410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1A55"/>
                </a:solidFill>
                <a:latin typeface="Calibri"/>
                <a:cs typeface="Calibri"/>
              </a:rPr>
              <a:t>Session Team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32520" y="2011680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32520" y="2011680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Calibri"/>
                <a:cs typeface="Calibri"/>
              </a:rPr>
              <a:t>Dialogue Moderator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32520" y="2340864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Calibri"/>
                <a:cs typeface="Calibri"/>
              </a:rPr>
              <a:t>[Moderator Name]
Al-Awfi &amp; Al-Harbi Office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32520" y="3163824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32520" y="3163824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Calibri"/>
                <a:cs typeface="Calibri"/>
              </a:rPr>
              <a:t>Session Sponsor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3493008"/>
            <a:ext cx="32278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Calibri"/>
                <a:cs typeface="Calibri"/>
              </a:rPr>
              <a:t>[Sponsor Organization]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4041648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Calibri"/>
                <a:cs typeface="Calibri"/>
              </a:rPr>
              <a:t>Sponsorship Fee: SAR 10,000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32520" y="4498848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32520" y="4498848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Calibri"/>
                <a:cs typeface="Calibri"/>
              </a:rPr>
              <a:t>Independent Speakers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4828032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Calibri"/>
                <a:cs typeface="Calibri"/>
              </a:rPr>
              <a:t>[Speaker 1]
[Speaker 2]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5541264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Calibri"/>
                <a:cs typeface="Calibri"/>
              </a:rPr>
              <a:t>SAR 4,000 / speaker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0"/>
            <a:ext cx="548640" cy="5486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548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1704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ECF4"/>
                </a:solidFill>
                <a:latin typeface="Calibri"/>
                <a:cs typeface="Calibri"/>
              </a:rPr>
              <a:t>D1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cs typeface="Calibri"/>
              </a:rPr>
              <a:t>Al-Awfi &amp; Al-Harbi   |   www.cla.sa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09728"/>
            <a:ext cx="11338560" cy="117043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37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A8"/>
                </a:solidFill>
                <a:latin typeface="Calibri"/>
                <a:cs typeface="Calibri"/>
              </a:rPr>
              <a:t>Session 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137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4AE"/>
                </a:solidFill>
                <a:latin typeface="Calibri"/>
                <a:cs typeface="Calibri"/>
              </a:rPr>
              <a:t>Day 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1A55"/>
                </a:solidFill>
                <a:latin typeface="Calibri"/>
                <a:cs typeface="Calibri"/>
              </a:rPr>
              <a:t>Independence, Objectivity, and Ethics in Internal Auditing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1325880"/>
            <a:ext cx="11338560" cy="3657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417320"/>
            <a:ext cx="7818120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4630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  <a:latin typeface="Calibri"/>
                <a:cs typeface="Calibri"/>
              </a:rPr>
              <a:t>Session Agenda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1901952"/>
            <a:ext cx="7818120" cy="36576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1956816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" y="2176272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17627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cs typeface="Calibri"/>
              </a:rPr>
              <a:t>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19072" y="2066544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Calibri"/>
                <a:cs typeface="Calibri"/>
              </a:rPr>
              <a:t>IIA Code of Ethics and professional conduct standards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081528"/>
            <a:ext cx="7818120" cy="107899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118104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" y="3337560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333756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cs typeface="Calibri"/>
              </a:rPr>
              <a:t>Second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19072" y="3227832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Calibri"/>
                <a:cs typeface="Calibri"/>
              </a:rPr>
              <a:t>Organisational independence and individual objectivity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279392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" y="4498848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449884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cs typeface="Calibri"/>
              </a:rPr>
              <a:t>Third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19072" y="438912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Calibri"/>
                <a:cs typeface="Calibri"/>
              </a:rPr>
              <a:t>Managing and resolving conflicts of interest professionally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5404104"/>
            <a:ext cx="7818120" cy="107899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5440680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" y="5660136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566013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cs typeface="Calibri"/>
              </a:rPr>
              <a:t>Fourth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19072" y="5550408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Calibri"/>
                <a:cs typeface="Calibri"/>
              </a:rPr>
              <a:t>The role of organisational culture in promoting integrity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41080" y="1417320"/>
            <a:ext cx="3410712" cy="498348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41080" y="1417320"/>
            <a:ext cx="3410712" cy="5486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41080" y="1481328"/>
            <a:ext cx="3410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1A55"/>
                </a:solidFill>
                <a:latin typeface="Calibri"/>
                <a:cs typeface="Calibri"/>
              </a:rPr>
              <a:t>Session Team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32520" y="2011680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32520" y="2011680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Calibri"/>
                <a:cs typeface="Calibri"/>
              </a:rPr>
              <a:t>Dialogue Moderator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32520" y="2340864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Calibri"/>
                <a:cs typeface="Calibri"/>
              </a:rPr>
              <a:t>[Moderator Name]
Al-Awfi &amp; Al-Harbi Office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32520" y="3163824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32520" y="3163824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Calibri"/>
                <a:cs typeface="Calibri"/>
              </a:rPr>
              <a:t>Session Sponsor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3493008"/>
            <a:ext cx="32278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Calibri"/>
                <a:cs typeface="Calibri"/>
              </a:rPr>
              <a:t>[Sponsor Organization]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4041648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Calibri"/>
                <a:cs typeface="Calibri"/>
              </a:rPr>
              <a:t>Sponsorship Fee: SAR 10,000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32520" y="4498848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32520" y="4498848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Calibri"/>
                <a:cs typeface="Calibri"/>
              </a:rPr>
              <a:t>Independent Speakers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4828032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Calibri"/>
                <a:cs typeface="Calibri"/>
              </a:rPr>
              <a:t>[Speaker 1]
[Speaker 2]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5541264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Calibri"/>
                <a:cs typeface="Calibri"/>
              </a:rPr>
              <a:t>SAR 4,000 / speaker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0"/>
            <a:ext cx="548640" cy="5486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548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1704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ECF4"/>
                </a:solidFill>
                <a:latin typeface="Calibri"/>
                <a:cs typeface="Calibri"/>
              </a:rPr>
              <a:t>D2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cs typeface="Calibri"/>
              </a:rPr>
              <a:t>Al-Awfi &amp; Al-Harbi   |   www.cla.sa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09728"/>
            <a:ext cx="11338560" cy="117043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37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A8"/>
                </a:solidFill>
                <a:latin typeface="Calibri"/>
                <a:cs typeface="Calibri"/>
              </a:rPr>
              <a:t>Session 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137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4AE"/>
                </a:solidFill>
                <a:latin typeface="Calibri"/>
                <a:cs typeface="Calibri"/>
              </a:rPr>
              <a:t>Day Two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1A55"/>
                </a:solidFill>
                <a:latin typeface="Calibri"/>
                <a:cs typeface="Calibri"/>
              </a:rPr>
              <a:t>Risk-Based Internal Auditing – Methodology and Application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1325880"/>
            <a:ext cx="11338560" cy="3657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417320"/>
            <a:ext cx="7818120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4630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  <a:latin typeface="Calibri"/>
                <a:cs typeface="Calibri"/>
              </a:rPr>
              <a:t>Session Agenda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1901952"/>
            <a:ext cx="7818120" cy="36576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1956816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" y="2176272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17627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cs typeface="Calibri"/>
              </a:rPr>
              <a:t>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19072" y="2066544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Calibri"/>
                <a:cs typeface="Calibri"/>
              </a:rPr>
              <a:t>Step-by-step methodology for risk-based internal auditing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081528"/>
            <a:ext cx="7818120" cy="107899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118104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" y="3337560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333756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cs typeface="Calibri"/>
              </a:rPr>
              <a:t>Second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19072" y="3227832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Calibri"/>
                <a:cs typeface="Calibri"/>
              </a:rPr>
              <a:t>Building the engagement plan based on risk assessment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279392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" y="4498848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449884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cs typeface="Calibri"/>
              </a:rPr>
              <a:t>Third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19072" y="438912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Calibri"/>
                <a:cs typeface="Calibri"/>
              </a:rPr>
              <a:t>Determining sample size and procedures by risk level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5404104"/>
            <a:ext cx="7818120" cy="107899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5440680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" y="5660136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566013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cs typeface="Calibri"/>
              </a:rPr>
              <a:t>Fourth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19072" y="5550408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Calibri"/>
                <a:cs typeface="Calibri"/>
              </a:rPr>
              <a:t>Writing risk-based audit reports in line with standards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41080" y="1417320"/>
            <a:ext cx="3410712" cy="498348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41080" y="1417320"/>
            <a:ext cx="3410712" cy="5486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41080" y="1481328"/>
            <a:ext cx="3410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1A55"/>
                </a:solidFill>
                <a:latin typeface="Calibri"/>
                <a:cs typeface="Calibri"/>
              </a:rPr>
              <a:t>Session Team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32520" y="2011680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32520" y="2011680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Calibri"/>
                <a:cs typeface="Calibri"/>
              </a:rPr>
              <a:t>Dialogue Moderator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32520" y="2340864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Calibri"/>
                <a:cs typeface="Calibri"/>
              </a:rPr>
              <a:t>[Moderator Name]
Al-Awfi &amp; Al-Harbi Office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32520" y="3163824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32520" y="3163824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Calibri"/>
                <a:cs typeface="Calibri"/>
              </a:rPr>
              <a:t>Session Sponsor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3493008"/>
            <a:ext cx="32278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Calibri"/>
                <a:cs typeface="Calibri"/>
              </a:rPr>
              <a:t>[Sponsor Organization]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4041648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Calibri"/>
                <a:cs typeface="Calibri"/>
              </a:rPr>
              <a:t>Sponsorship Fee: SAR 10,000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32520" y="4498848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32520" y="4498848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Calibri"/>
                <a:cs typeface="Calibri"/>
              </a:rPr>
              <a:t>Independent Speakers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4828032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Calibri"/>
                <a:cs typeface="Calibri"/>
              </a:rPr>
              <a:t>[Speaker 1]
[Speaker 2]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5541264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Calibri"/>
                <a:cs typeface="Calibri"/>
              </a:rPr>
              <a:t>SAR 4,000 / speaker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0"/>
            <a:ext cx="548640" cy="5486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548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  <a:cs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1704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ECF4"/>
                </a:solidFill>
                <a:latin typeface="Calibri"/>
                <a:cs typeface="Calibri"/>
              </a:rPr>
              <a:t>D2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cs typeface="Calibri"/>
              </a:rPr>
              <a:t>Al-Awfi &amp; Al-Harbi   |   www.cla.sa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09728"/>
            <a:ext cx="11338560" cy="117043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37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A8"/>
                </a:solidFill>
                <a:latin typeface="Calibri"/>
                <a:cs typeface="Calibri"/>
              </a:rPr>
              <a:t>Session 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137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4AE"/>
                </a:solidFill>
                <a:latin typeface="Calibri"/>
                <a:cs typeface="Calibri"/>
              </a:rPr>
              <a:t>Day Two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1A55"/>
                </a:solidFill>
                <a:latin typeface="Calibri"/>
                <a:cs typeface="Calibri"/>
              </a:rPr>
              <a:t>The Role of Internal Audit in Combating Fraud and Financial Corruption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1325880"/>
            <a:ext cx="11338560" cy="3657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417320"/>
            <a:ext cx="7818120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4630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  <a:latin typeface="Calibri"/>
                <a:cs typeface="Calibri"/>
              </a:rPr>
              <a:t>Session Agenda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1901952"/>
            <a:ext cx="7818120" cy="36576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1956816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" y="2176272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17627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cs typeface="Calibri"/>
              </a:rPr>
              <a:t>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19072" y="2066544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Calibri"/>
                <a:cs typeface="Calibri"/>
              </a:rPr>
              <a:t>Early detection techniques for fraud and misconduct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081528"/>
            <a:ext cx="7818120" cy="107899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118104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" y="3337560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333756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cs typeface="Calibri"/>
              </a:rPr>
              <a:t>Second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19072" y="3227832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Calibri"/>
                <a:cs typeface="Calibri"/>
              </a:rPr>
              <a:t>Fraud prevention framework and the internal auditor's role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279392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" y="4498848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449884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cs typeface="Calibri"/>
              </a:rPr>
              <a:t>Third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19072" y="438912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Calibri"/>
                <a:cs typeface="Calibri"/>
              </a:rPr>
              <a:t>Internal investigation procedures when fraud is suspected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5404104"/>
            <a:ext cx="7818120" cy="107899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5440680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" y="5660136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566013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cs typeface="Calibri"/>
              </a:rPr>
              <a:t>Fourth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19072" y="5550408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Calibri"/>
                <a:cs typeface="Calibri"/>
              </a:rPr>
              <a:t>Compliance with anti-fraud and anti-money-laundering regulations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41080" y="1417320"/>
            <a:ext cx="3410712" cy="498348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41080" y="1417320"/>
            <a:ext cx="3410712" cy="5486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41080" y="1481328"/>
            <a:ext cx="3410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1A55"/>
                </a:solidFill>
                <a:latin typeface="Calibri"/>
                <a:cs typeface="Calibri"/>
              </a:rPr>
              <a:t>Session Team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32520" y="2011680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32520" y="2011680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Calibri"/>
                <a:cs typeface="Calibri"/>
              </a:rPr>
              <a:t>Dialogue Moderator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32520" y="2340864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Calibri"/>
                <a:cs typeface="Calibri"/>
              </a:rPr>
              <a:t>[Moderator Name]
Al-Awfi &amp; Al-Harbi Office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32520" y="3163824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32520" y="3163824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Calibri"/>
                <a:cs typeface="Calibri"/>
              </a:rPr>
              <a:t>Session Sponsor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3493008"/>
            <a:ext cx="32278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Calibri"/>
                <a:cs typeface="Calibri"/>
              </a:rPr>
              <a:t>[Sponsor Organization]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4041648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Calibri"/>
                <a:cs typeface="Calibri"/>
              </a:rPr>
              <a:t>Sponsorship Fee: SAR 10,000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32520" y="4498848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32520" y="4498848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Calibri"/>
                <a:cs typeface="Calibri"/>
              </a:rPr>
              <a:t>Independent Speakers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4828032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Calibri"/>
                <a:cs typeface="Calibri"/>
              </a:rPr>
              <a:t>[Speaker 1]
[Speaker 2]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5541264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Calibri"/>
                <a:cs typeface="Calibri"/>
              </a:rPr>
              <a:t>SAR 4,000 / speaker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0"/>
            <a:ext cx="548640" cy="5486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548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  <a:cs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1704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ECF4"/>
                </a:solidFill>
                <a:latin typeface="Calibri"/>
                <a:cs typeface="Calibri"/>
              </a:rPr>
              <a:t>D2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cs typeface="Calibri"/>
              </a:rPr>
              <a:t>Al-Awfi &amp; Al-Harbi   |   www.cla.sa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09728"/>
            <a:ext cx="11338560" cy="117043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37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A8"/>
                </a:solidFill>
                <a:latin typeface="Calibri"/>
                <a:cs typeface="Calibri"/>
              </a:rPr>
              <a:t>Session 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137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4AE"/>
                </a:solidFill>
                <a:latin typeface="Calibri"/>
                <a:cs typeface="Calibri"/>
              </a:rPr>
              <a:t>Day Two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1A55"/>
                </a:solidFill>
                <a:latin typeface="Calibri"/>
                <a:cs typeface="Calibri"/>
              </a:rPr>
              <a:t>Evaluating Internal Control Effectiveness Based on the COSO Framework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1325880"/>
            <a:ext cx="11338560" cy="3657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417320"/>
            <a:ext cx="7818120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4630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  <a:latin typeface="Calibri"/>
                <a:cs typeface="Calibri"/>
              </a:rPr>
              <a:t>Session Agenda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1901952"/>
            <a:ext cx="7818120" cy="36576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1956816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" y="2176272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17627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cs typeface="Calibri"/>
              </a:rPr>
              <a:t>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19072" y="2066544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Calibri"/>
                <a:cs typeface="Calibri"/>
              </a:rPr>
              <a:t>COSO internal control framework: five components and principles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081528"/>
            <a:ext cx="7818120" cy="107899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118104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" y="3337560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333756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cs typeface="Calibri"/>
              </a:rPr>
              <a:t>Second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19072" y="3227832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Calibri"/>
                <a:cs typeface="Calibri"/>
              </a:rPr>
              <a:t>Methodologies for assessing the effectiveness of control environments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279392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" y="4498848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449884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cs typeface="Calibri"/>
              </a:rPr>
              <a:t>Third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19072" y="438912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Calibri"/>
                <a:cs typeface="Calibri"/>
              </a:rPr>
              <a:t>Identifying material weaknesses and control deficiencies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5404104"/>
            <a:ext cx="7818120" cy="107899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5440680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" y="5660136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566013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cs typeface="Calibri"/>
              </a:rPr>
              <a:t>Fourth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19072" y="5550408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Calibri"/>
                <a:cs typeface="Calibri"/>
              </a:rPr>
              <a:t>Developing remediation plans and tracking recommendation implementation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41080" y="1417320"/>
            <a:ext cx="3410712" cy="498348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41080" y="1417320"/>
            <a:ext cx="3410712" cy="5486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41080" y="1481328"/>
            <a:ext cx="3410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1A55"/>
                </a:solidFill>
                <a:latin typeface="Calibri"/>
                <a:cs typeface="Calibri"/>
              </a:rPr>
              <a:t>Session Team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32520" y="2011680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32520" y="2011680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Calibri"/>
                <a:cs typeface="Calibri"/>
              </a:rPr>
              <a:t>Dialogue Moderator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32520" y="2340864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Calibri"/>
                <a:cs typeface="Calibri"/>
              </a:rPr>
              <a:t>[Moderator Name]
Al-Awfi &amp; Al-Harbi Office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32520" y="3163824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32520" y="3163824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Calibri"/>
                <a:cs typeface="Calibri"/>
              </a:rPr>
              <a:t>Session Sponsor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3493008"/>
            <a:ext cx="32278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Calibri"/>
                <a:cs typeface="Calibri"/>
              </a:rPr>
              <a:t>[Sponsor Organization]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4041648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Calibri"/>
                <a:cs typeface="Calibri"/>
              </a:rPr>
              <a:t>Sponsorship Fee: SAR 10,000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32520" y="4498848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32520" y="4498848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Calibri"/>
                <a:cs typeface="Calibri"/>
              </a:rPr>
              <a:t>Independent Speakers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4828032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Calibri"/>
                <a:cs typeface="Calibri"/>
              </a:rPr>
              <a:t>[Speaker 1]
[Speaker 2]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5541264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Calibri"/>
                <a:cs typeface="Calibri"/>
              </a:rPr>
              <a:t>SAR 4,000 / speaker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0"/>
            <a:ext cx="548640" cy="5486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548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  <a:cs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1704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ECF4"/>
                </a:solidFill>
                <a:latin typeface="Calibri"/>
                <a:cs typeface="Calibri"/>
              </a:rPr>
              <a:t>D2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cs typeface="Calibri"/>
              </a:rPr>
              <a:t>Al-Awfi &amp; Al-Harbi   |   www.cla.sa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09728"/>
            <a:ext cx="11338560" cy="117043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37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A8"/>
                </a:solidFill>
                <a:latin typeface="Calibri"/>
                <a:cs typeface="Calibri"/>
              </a:rPr>
              <a:t>Session 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137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4AE"/>
                </a:solidFill>
                <a:latin typeface="Calibri"/>
                <a:cs typeface="Calibri"/>
              </a:rPr>
              <a:t>Day Two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1A55"/>
                </a:solidFill>
                <a:latin typeface="Calibri"/>
                <a:cs typeface="Calibri"/>
              </a:rPr>
              <a:t>The Future of the Internal Audit Profession Under Vision 2030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1325880"/>
            <a:ext cx="11338560" cy="3657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417320"/>
            <a:ext cx="7818120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4630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  <a:latin typeface="Calibri"/>
                <a:cs typeface="Calibri"/>
              </a:rPr>
              <a:t>Session Agenda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1901952"/>
            <a:ext cx="7818120" cy="36576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1956816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" y="2176272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17627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cs typeface="Calibri"/>
              </a:rPr>
              <a:t>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19072" y="2066544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Calibri"/>
                <a:cs typeface="Calibri"/>
              </a:rPr>
              <a:t>Global trends shaping the internal audit profession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081528"/>
            <a:ext cx="7818120" cy="107899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118104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" y="3337560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333756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cs typeface="Calibri"/>
              </a:rPr>
              <a:t>Second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19072" y="3227832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Calibri"/>
                <a:cs typeface="Calibri"/>
              </a:rPr>
              <a:t>Impact of Vision 2030 and economic reforms on the profession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279392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" y="4498848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449884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cs typeface="Calibri"/>
              </a:rPr>
              <a:t>Third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19072" y="438912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Calibri"/>
                <a:cs typeface="Calibri"/>
              </a:rPr>
              <a:t>Saudi labour market requirements for future internal auditors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5404104"/>
            <a:ext cx="7818120" cy="107899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5440680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" y="5660136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566013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cs typeface="Calibri"/>
              </a:rPr>
              <a:t>Fourth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19072" y="5550408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Calibri"/>
                <a:cs typeface="Calibri"/>
              </a:rPr>
              <a:t>Professional development pathways and career progression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41080" y="1417320"/>
            <a:ext cx="3410712" cy="498348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41080" y="1417320"/>
            <a:ext cx="3410712" cy="5486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41080" y="1481328"/>
            <a:ext cx="3410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1A55"/>
                </a:solidFill>
                <a:latin typeface="Calibri"/>
                <a:cs typeface="Calibri"/>
              </a:rPr>
              <a:t>Session Team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32520" y="2011680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32520" y="2011680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Calibri"/>
                <a:cs typeface="Calibri"/>
              </a:rPr>
              <a:t>Dialogue Moderator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32520" y="2340864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Calibri"/>
                <a:cs typeface="Calibri"/>
              </a:rPr>
              <a:t>[Moderator Name]
Al-Awfi &amp; Al-Harbi Office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32520" y="3163824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32520" y="3163824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Calibri"/>
                <a:cs typeface="Calibri"/>
              </a:rPr>
              <a:t>Session Sponsor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3493008"/>
            <a:ext cx="32278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Calibri"/>
                <a:cs typeface="Calibri"/>
              </a:rPr>
              <a:t>[Sponsor Organization]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4041648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Calibri"/>
                <a:cs typeface="Calibri"/>
              </a:rPr>
              <a:t>Sponsorship Fee: SAR 10,000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32520" y="4498848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32520" y="4498848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Calibri"/>
                <a:cs typeface="Calibri"/>
              </a:rPr>
              <a:t>Independent Speakers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4828032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Calibri"/>
                <a:cs typeface="Calibri"/>
              </a:rPr>
              <a:t>[Speaker 1]
[Speaker 2]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5541264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Calibri"/>
                <a:cs typeface="Calibri"/>
              </a:rPr>
              <a:t>SAR 4,000 / speaker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0"/>
            <a:ext cx="548640" cy="5486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548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1704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ECF4"/>
                </a:solidFill>
                <a:latin typeface="Calibri"/>
                <a:cs typeface="Calibri"/>
              </a:rPr>
              <a:t>D2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cs typeface="Calibri"/>
              </a:rPr>
              <a:t>Al-Awfi &amp; Al-Harbi   |   www.cla.sa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09728"/>
            <a:ext cx="11338560" cy="117043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37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A8"/>
                </a:solidFill>
                <a:latin typeface="Calibri"/>
                <a:cs typeface="Calibri"/>
              </a:rPr>
              <a:t>Session 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137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4AE"/>
                </a:solidFill>
                <a:latin typeface="Calibri"/>
                <a:cs typeface="Calibri"/>
              </a:rPr>
              <a:t>Day Two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1A55"/>
                </a:solidFill>
                <a:latin typeface="Calibri"/>
                <a:cs typeface="Calibri"/>
              </a:rPr>
              <a:t>Integration Between Internal &amp; External Audit and the Audit Committee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1325880"/>
            <a:ext cx="11338560" cy="3657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417320"/>
            <a:ext cx="7818120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4630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  <a:latin typeface="Calibri"/>
                <a:cs typeface="Calibri"/>
              </a:rPr>
              <a:t>Session Agenda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1901952"/>
            <a:ext cx="7818120" cy="36576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1956816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" y="2176272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17627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cs typeface="Calibri"/>
              </a:rPr>
              <a:t>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19072" y="2066544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Calibri"/>
                <a:cs typeface="Calibri"/>
              </a:rPr>
              <a:t>Differences and synergies between internal and external audit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081528"/>
            <a:ext cx="7818120" cy="107899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118104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" y="3337560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333756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cs typeface="Calibri"/>
              </a:rPr>
              <a:t>Second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19072" y="3227832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Calibri"/>
                <a:cs typeface="Calibri"/>
              </a:rPr>
              <a:t>Mechanisms for effective coordination between both teams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279392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" y="4498848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449884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cs typeface="Calibri"/>
              </a:rPr>
              <a:t>Third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19072" y="438912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Calibri"/>
                <a:cs typeface="Calibri"/>
              </a:rPr>
              <a:t>The audit committee's role in oversight and governance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5404104"/>
            <a:ext cx="7818120" cy="107899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5440680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" y="5660136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566013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cs typeface="Calibri"/>
              </a:rPr>
              <a:t>Fourth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19072" y="5550408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Calibri"/>
                <a:cs typeface="Calibri"/>
              </a:rPr>
              <a:t>Successful models of collaboration and joint working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41080" y="1417320"/>
            <a:ext cx="3410712" cy="498348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41080" y="1417320"/>
            <a:ext cx="3410712" cy="5486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41080" y="1481328"/>
            <a:ext cx="3410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1A55"/>
                </a:solidFill>
                <a:latin typeface="Calibri"/>
                <a:cs typeface="Calibri"/>
              </a:rPr>
              <a:t>Session Team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32520" y="2011680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32520" y="2011680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Calibri"/>
                <a:cs typeface="Calibri"/>
              </a:rPr>
              <a:t>Dialogue Moderator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32520" y="2340864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Calibri"/>
                <a:cs typeface="Calibri"/>
              </a:rPr>
              <a:t>[Moderator Name]
Al-Awfi &amp; Al-Harbi Office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32520" y="3163824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32520" y="3163824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Calibri"/>
                <a:cs typeface="Calibri"/>
              </a:rPr>
              <a:t>Session Sponsor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3493008"/>
            <a:ext cx="32278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Calibri"/>
                <a:cs typeface="Calibri"/>
              </a:rPr>
              <a:t>[Sponsor Organization]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4041648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Calibri"/>
                <a:cs typeface="Calibri"/>
              </a:rPr>
              <a:t>Sponsorship Fee: SAR 10,000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32520" y="4498848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32520" y="4498848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Calibri"/>
                <a:cs typeface="Calibri"/>
              </a:rPr>
              <a:t>Independent Speakers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4828032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Calibri"/>
                <a:cs typeface="Calibri"/>
              </a:rPr>
              <a:t>[Speaker 1]
[Speaker 2]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5541264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Calibri"/>
                <a:cs typeface="Calibri"/>
              </a:rPr>
              <a:t>SAR 4,000 / speaker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lock Arc 3"/>
          <p:cNvSpPr/>
          <p:nvPr/>
        </p:nvSpPr>
        <p:spPr>
          <a:xfrm>
            <a:off x="3291840" y="0"/>
            <a:ext cx="914400" cy="1188720"/>
          </a:xfrm>
          <a:prstGeom prst="blockArc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cs typeface="Calibri"/>
              </a:rPr>
              <a:t>Al-Awfi &amp; Al-Harbi   |   www.cla.sa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4592"/>
            <a:ext cx="82296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  <a:cs typeface="Calibri"/>
              </a:rPr>
              <a:t>Estimated Costs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11548872" cy="457200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25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  <a:cs typeface="Calibri"/>
              </a:rPr>
              <a:t>Item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325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  <a:cs typeface="Calibri"/>
              </a:rPr>
              <a:t>Amount (SAR)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1325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  <a:cs typeface="Calibri"/>
              </a:rPr>
              <a:t>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874519"/>
            <a:ext cx="11548872" cy="89611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1874519"/>
            <a:ext cx="54864" cy="896112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07568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Calibri"/>
                <a:cs typeface="Calibri"/>
              </a:rPr>
              <a:t>Event Permit License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207568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087"/>
                </a:solidFill>
                <a:latin typeface="Calibri"/>
                <a:cs typeface="Calibri"/>
              </a:rPr>
              <a:t>SAR 5,000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862072"/>
            <a:ext cx="11548872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862072"/>
            <a:ext cx="54864" cy="896112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06324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Calibri"/>
                <a:cs typeface="Calibri"/>
              </a:rPr>
              <a:t>Event Office Fees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30632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087"/>
                </a:solidFill>
                <a:latin typeface="Calibri"/>
                <a:cs typeface="Calibri"/>
              </a:rPr>
              <a:t>SAR 8,000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849624"/>
            <a:ext cx="11548872" cy="89611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849624"/>
            <a:ext cx="54864" cy="896112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050791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Calibri"/>
                <a:cs typeface="Calibri"/>
              </a:rPr>
              <a:t>Hospitality – Minimum  (70 × 280 × 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4050791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087"/>
                </a:solidFill>
                <a:latin typeface="Calibri"/>
                <a:cs typeface="Calibri"/>
              </a:rPr>
              <a:t>SAR 39,200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837176"/>
            <a:ext cx="11548872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837176"/>
            <a:ext cx="54864" cy="896112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038344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Calibri"/>
                <a:cs typeface="Calibri"/>
              </a:rPr>
              <a:t>Hospitality – Maximum  (100 × 350 ×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503834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087"/>
                </a:solidFill>
                <a:latin typeface="Calibri"/>
                <a:cs typeface="Calibri"/>
              </a:rPr>
              <a:t>SAR 70,000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806440"/>
            <a:ext cx="11548872" cy="5943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80644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  <a:cs typeface="Calibri"/>
              </a:rPr>
              <a:t>Total Estimated Costs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580644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CF4"/>
                </a:solidFill>
                <a:latin typeface="Calibri"/>
                <a:cs typeface="Calibri"/>
              </a:rPr>
              <a:t>SAR 52,200  –  83,000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739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4AE"/>
                </a:solidFill>
                <a:latin typeface="Calibri"/>
                <a:cs typeface="Calibri"/>
              </a:rPr>
              <a:t>* Variable costs based on expected attendance of 70–100 per day × 2 days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lock Arc 3"/>
          <p:cNvSpPr/>
          <p:nvPr/>
        </p:nvSpPr>
        <p:spPr>
          <a:xfrm>
            <a:off x="3291840" y="0"/>
            <a:ext cx="914400" cy="1188720"/>
          </a:xfrm>
          <a:prstGeom prst="blockArc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cs typeface="Calibri"/>
              </a:rPr>
              <a:t>Al-Awfi &amp; Al-Harbi   |   www.cla.sa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4592"/>
            <a:ext cx="82296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  <a:cs typeface="Calibri"/>
              </a:rPr>
              <a:t>Projected Revenue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11548872" cy="150876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71600"/>
            <a:ext cx="64008" cy="15087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1A55"/>
                </a:solidFill>
                <a:latin typeface="Calibri"/>
                <a:cs typeface="Calibri"/>
              </a:rPr>
              <a:t>Session Sponsors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4AE"/>
                </a:solidFill>
                <a:latin typeface="Calibri"/>
                <a:cs typeface="Calibri"/>
              </a:rPr>
              <a:t>10 sessions  ×  SAR 10,000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1691640"/>
            <a:ext cx="2560320" cy="7315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16916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  <a:cs typeface="Calibri"/>
              </a:rPr>
              <a:t>SAR 100,000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063240"/>
            <a:ext cx="11548872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063240"/>
            <a:ext cx="64008" cy="15087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00400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1A55"/>
                </a:solidFill>
                <a:latin typeface="Calibri"/>
                <a:cs typeface="Calibri"/>
              </a:rPr>
              <a:t>Independent Speakers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49039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4AE"/>
                </a:solidFill>
                <a:latin typeface="Calibri"/>
                <a:cs typeface="Calibri"/>
              </a:rPr>
              <a:t>10 sessions  ×  2 speakers  ×  SAR 4,000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3383280"/>
            <a:ext cx="2560320" cy="7315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33832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  <a:cs typeface="Calibri"/>
              </a:rPr>
              <a:t>SAR 80,000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846320"/>
            <a:ext cx="11548872" cy="658368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846320"/>
            <a:ext cx="7772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cs typeface="Calibri"/>
              </a:rPr>
              <a:t>Total Projected Revenue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4846320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ECF4"/>
                </a:solidFill>
                <a:latin typeface="Calibri"/>
                <a:cs typeface="Calibri"/>
              </a:rPr>
              <a:t>SAR 180,000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650992"/>
            <a:ext cx="11548872" cy="71323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5650992"/>
            <a:ext cx="64008" cy="713232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650992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1A55"/>
                </a:solidFill>
                <a:latin typeface="Calibri"/>
                <a:cs typeface="Calibri"/>
              </a:rPr>
              <a:t>Expected Net Surplus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650992"/>
            <a:ext cx="5303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087"/>
                </a:solidFill>
                <a:latin typeface="Calibri"/>
                <a:cs typeface="Calibri"/>
              </a:rPr>
              <a:t>SAR 97,000  –  127,800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4AE"/>
                </a:solidFill>
                <a:latin typeface="Calibri"/>
                <a:cs typeface="Calibri"/>
              </a:rPr>
              <a:t>* Figures are estimates subject to negotiation with sponsors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0" y="0"/>
            <a:ext cx="597103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lock Arc 5"/>
          <p:cNvSpPr/>
          <p:nvPr/>
        </p:nvSpPr>
        <p:spPr>
          <a:xfrm>
            <a:off x="5120640" y="0"/>
            <a:ext cx="1463040" cy="6858000"/>
          </a:xfrm>
          <a:prstGeom prst="blockArc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  <a:cs typeface="Calibri"/>
              </a:rPr>
              <a:t>We look forward to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8ECF4"/>
                </a:solidFill>
                <a:latin typeface="Calibri"/>
                <a:cs typeface="Calibri"/>
              </a:rPr>
              <a:t>successful partnership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703320"/>
            <a:ext cx="4114800" cy="4572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886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  <a:cs typeface="Calibri"/>
              </a:rPr>
              <a:t>Al-Awfi &amp; Al-Harbi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0740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4AE"/>
                </a:solidFill>
                <a:latin typeface="Calibri"/>
                <a:cs typeface="Calibri"/>
              </a:rPr>
              <a:t>Certified Public Accountants &amp; Legal Auditors  •  CLA Global Member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74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CF4"/>
                </a:solidFill>
                <a:latin typeface="Calibri"/>
                <a:cs typeface="Calibri"/>
              </a:rPr>
              <a:t>www.cla.sa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3716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 i="0">
                <a:solidFill>
                  <a:srgbClr val="001A55"/>
                </a:solidFill>
                <a:latin typeface="Calibri"/>
                <a:cs typeface="Calibri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6517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A94AE"/>
                </a:solidFill>
                <a:latin typeface="Calibri"/>
                <a:cs typeface="Calibri"/>
              </a:rPr>
              <a:t>Dialogue Sessions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3337560"/>
            <a:ext cx="1920240" cy="4572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356616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0" b="1" i="0">
                <a:solidFill>
                  <a:srgbClr val="001A55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434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A94AE"/>
                </a:solidFill>
                <a:latin typeface="Calibri"/>
                <a:cs typeface="Calibri"/>
              </a:rPr>
              <a:t>Event Duration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